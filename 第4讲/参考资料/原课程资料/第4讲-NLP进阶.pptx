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304" r:id="rId3"/>
    <p:sldId id="448" r:id="rId4"/>
    <p:sldId id="397" r:id="rId5"/>
    <p:sldId id="399" r:id="rId6"/>
    <p:sldId id="427" r:id="rId7"/>
    <p:sldId id="428" r:id="rId8"/>
    <p:sldId id="369" r:id="rId9"/>
    <p:sldId id="372" r:id="rId10"/>
    <p:sldId id="401" r:id="rId11"/>
    <p:sldId id="370" r:id="rId12"/>
    <p:sldId id="371" r:id="rId13"/>
    <p:sldId id="373" r:id="rId14"/>
    <p:sldId id="374" r:id="rId15"/>
    <p:sldId id="449" r:id="rId16"/>
    <p:sldId id="438" r:id="rId17"/>
    <p:sldId id="436" r:id="rId18"/>
    <p:sldId id="439" r:id="rId19"/>
    <p:sldId id="440" r:id="rId20"/>
    <p:sldId id="441" r:id="rId21"/>
    <p:sldId id="442" r:id="rId22"/>
    <p:sldId id="443" r:id="rId23"/>
    <p:sldId id="444" r:id="rId24"/>
    <p:sldId id="445" r:id="rId25"/>
    <p:sldId id="446" r:id="rId26"/>
    <p:sldId id="447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947" autoAdjust="0"/>
  </p:normalViewPr>
  <p:slideViewPr>
    <p:cSldViewPr snapToGrid="0">
      <p:cViewPr varScale="1">
        <p:scale>
          <a:sx n="82" d="100"/>
          <a:sy n="82" d="100"/>
        </p:scale>
        <p:origin x="669" y="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123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想象一下，你在读一篇影评，目的是判断它是“正面”的还是“负面”的。你不会只看单个的词就下结论，而是会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按顺序阅读每一个词，并在脑海中累积信息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，直到读完整句话才做出最终判断。这张图里的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RNN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，就是在模拟这个过程。它是一个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有记忆的、按顺序处理文本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的模型。</a:t>
            </a:r>
            <a:r>
              <a:rPr lang="zh-CN" altLang="en-US" dirty="0"/>
              <a:t>相当于把每个词作为时间节点，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RNN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对具有序列特性的数据非常有效，它能挖掘数据中的时序信息以及语义信息。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在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-apple-system"/>
              </a:rPr>
              <a:t>RNN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的计算过程中，当前时间步的隐藏状态会作为下一个时间步的输入之一。这种方式使得</a:t>
            </a:r>
            <a:r>
              <a:rPr lang="en-US" altLang="zh-CN" b="0" i="0" dirty="0">
                <a:solidFill>
                  <a:srgbClr val="666666"/>
                </a:solidFill>
                <a:effectLst/>
                <a:latin typeface="-apple-system"/>
              </a:rPr>
              <a:t>RNN</a:t>
            </a:r>
            <a:r>
              <a:rPr lang="zh-CN" altLang="en-US" b="0" i="0" dirty="0">
                <a:solidFill>
                  <a:srgbClr val="666666"/>
                </a:solidFill>
                <a:effectLst/>
                <a:latin typeface="-apple-system"/>
              </a:rPr>
              <a:t>能够在不同时间步之间传递上下文信息，从而捕捉序列中的长距离依赖。</a:t>
            </a:r>
            <a:endParaRPr lang="en-US" altLang="zh-CN" b="0" i="0" dirty="0">
              <a:solidFill>
                <a:srgbClr val="666666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模型的“大脑”和“记忆中枢”。它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一个接一个地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处理输入序列中的词。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关键机制：隐藏状态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(Hidden State, 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h_t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，相当于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模型的“记忆”。它包含了到当前时刻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t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为止，所有已处理词语的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综合信息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输入向量指当前单词的嵌入向量，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把词向量作为每个单元的输入特征，一般会组合前向以及后向来构成双向特征，计算后每个单元有个状态特征以及输出特征，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当前时间步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t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的隐藏状态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Ht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将参与计算下一时间步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t+1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的隐藏状态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Ht+1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 而且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Ht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还将送入全连接输出层， 用于计算当前时间步的输出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Ot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。</a:t>
            </a:r>
          </a:p>
          <a:p>
            <a:r>
              <a:rPr lang="zh-CN" altLang="en-US" dirty="0"/>
              <a:t>隐藏状态（</a:t>
            </a:r>
            <a:r>
              <a:rPr lang="en-US" altLang="zh-CN" dirty="0"/>
              <a:t>hidden state</a:t>
            </a:r>
            <a:r>
              <a:rPr lang="zh-CN" altLang="en-US" dirty="0"/>
              <a:t>）是循环神经网络（</a:t>
            </a:r>
            <a:r>
              <a:rPr lang="en-US" altLang="zh-CN" dirty="0"/>
              <a:t>RNN</a:t>
            </a:r>
            <a:r>
              <a:rPr lang="zh-CN" altLang="en-US" dirty="0"/>
              <a:t>）中的一个关键概念，用于表示网络在处理序列数据时的内部信息。隐藏状态是一个向量，其值会随着输入序列的不同时间步而更新。在每个时间步，隐藏状态会根据当前输入和前一时间步的隐藏状态来计算，从而捕捉序列中的上下文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一般组合每一个单元的输出特征求个平均喂给全连接层来做分类。 求平均这个操作可以替换为更通用的注意力机制，复杂度更高点，效果更好。</a:t>
            </a:r>
            <a:endParaRPr lang="en-US" altLang="zh-C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文本分类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第一层可能在学习词性；第二层可能在学习短语结构；第三层可能就在理解整个句子的情感倾向或主题了。</a:t>
            </a:r>
            <a:endParaRPr lang="en-US" altLang="zh-CN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dirty="0">
              <a:solidFill>
                <a:srgbClr val="555666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016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16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693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19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20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21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9505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18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26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2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0.png"/><Relationship Id="rId5" Type="http://schemas.openxmlformats.org/officeDocument/2006/relationships/image" Target="../media/image51.pn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99963" y="3044818"/>
            <a:ext cx="379207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accent3">
                    <a:lumMod val="50000"/>
                  </a:schemeClr>
                </a:solidFill>
                <a:latin typeface="Microsoft PhagsPa" panose="020B0502040204020203" charset="0"/>
                <a:ea typeface="微软雅黑 Light" panose="020B0502040204020203" charset="-122"/>
                <a:cs typeface="Montserrat Hairline" charset="0"/>
              </a:rPr>
              <a:t>NLP</a:t>
            </a:r>
            <a:r>
              <a:rPr lang="zh-CN" altLang="en-US" sz="4400" dirty="0">
                <a:solidFill>
                  <a:schemeClr val="accent3">
                    <a:lumMod val="50000"/>
                  </a:schemeClr>
                </a:solidFill>
                <a:latin typeface="Microsoft PhagsPa" panose="020B0502040204020203" charset="0"/>
                <a:ea typeface="微软雅黑 Light" panose="020B0502040204020203" charset="-122"/>
                <a:cs typeface="Montserrat Hairline" charset="0"/>
              </a:rPr>
              <a:t>基础</a:t>
            </a:r>
          </a:p>
        </p:txBody>
      </p:sp>
      <p:sp>
        <p:nvSpPr>
          <p:cNvPr id="4" name="Oval 1"/>
          <p:cNvSpPr/>
          <p:nvPr>
            <p:custDataLst>
              <p:tags r:id="rId1"/>
            </p:custDataLst>
          </p:nvPr>
        </p:nvSpPr>
        <p:spPr>
          <a:xfrm>
            <a:off x="4399795" y="1579492"/>
            <a:ext cx="3476232" cy="347623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Montserrat Light" charset="0"/>
            </a:endParaRPr>
          </a:p>
        </p:txBody>
      </p:sp>
      <p:sp>
        <p:nvSpPr>
          <p:cNvPr id="3" name="TextBox 4"/>
          <p:cNvSpPr txBox="1"/>
          <p:nvPr>
            <p:custDataLst>
              <p:tags r:id="rId2"/>
            </p:custDataLst>
          </p:nvPr>
        </p:nvSpPr>
        <p:spPr>
          <a:xfrm>
            <a:off x="4241873" y="2933058"/>
            <a:ext cx="379207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Microsoft PhagsPa" panose="020B0502040204020203" charset="0"/>
                <a:ea typeface="微软雅黑 Light" panose="020B0502040204020203" charset="-122"/>
                <a:cs typeface="Montserrat Hairline" charset="0"/>
              </a:rPr>
              <a:t>NLP</a:t>
            </a:r>
            <a:r>
              <a:rPr lang="zh-CN" altLang="en-US" sz="4400" dirty="0">
                <a:solidFill>
                  <a:schemeClr val="bg1"/>
                </a:solidFill>
                <a:latin typeface="Microsoft PhagsPa" panose="020B0502040204020203" charset="0"/>
                <a:ea typeface="微软雅黑 Light" panose="020B0502040204020203" charset="-122"/>
                <a:cs typeface="Montserrat Hairline" charset="0"/>
              </a:rPr>
              <a:t>进阶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剪去单角的矩形 2"/>
          <p:cNvSpPr/>
          <p:nvPr/>
        </p:nvSpPr>
        <p:spPr>
          <a:xfrm>
            <a:off x="527685" y="357505"/>
            <a:ext cx="1319530" cy="720725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39467" y="2685514"/>
            <a:ext cx="8375759" cy="538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  <a:sym typeface="Calibri" panose="020F0502020204030204" charset="0"/>
              </a:rPr>
              <a:t>二、</a:t>
            </a: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charset="-122"/>
                <a:sym typeface="+mn-ea"/>
              </a:rPr>
              <a:t>预训练语言模型</a:t>
            </a:r>
          </a:p>
        </p:txBody>
      </p:sp>
      <p:sp>
        <p:nvSpPr>
          <p:cNvPr id="9" name="矩形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9467" y="1816111"/>
            <a:ext cx="8375759" cy="538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</a:rPr>
              <a:t>一、</a:t>
            </a:r>
            <a:r>
              <a:rPr kumimoji="0" lang="en-US" altLang="zh-CN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</a:rPr>
              <a:t>NLP</a:t>
            </a:r>
            <a:r>
              <a:rPr kumimoji="0" lang="zh-CN" altLang="en-US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</a:rPr>
              <a:t>任务中深度学习模型的选择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6885" y="331470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accent5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提纲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剪去单角的矩形 2"/>
          <p:cNvSpPr/>
          <p:nvPr/>
        </p:nvSpPr>
        <p:spPr>
          <a:xfrm>
            <a:off x="527685" y="357505"/>
            <a:ext cx="1319530" cy="720725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39467" y="2685514"/>
            <a:ext cx="8375759" cy="538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  <a:sym typeface="Calibri" panose="020F0502020204030204" charset="0"/>
              </a:rPr>
              <a:t>二、</a:t>
            </a: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ea typeface="微软雅黑" panose="020B0503020204020204" charset="-122"/>
                <a:sym typeface="+mn-ea"/>
              </a:rPr>
              <a:t>预训练语言模型</a:t>
            </a:r>
          </a:p>
        </p:txBody>
      </p:sp>
      <p:sp>
        <p:nvSpPr>
          <p:cNvPr id="9" name="矩形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9467" y="1816111"/>
            <a:ext cx="8375759" cy="538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600" b="1" dirty="0">
                <a:solidFill>
                  <a:srgbClr val="FF0000"/>
                </a:solidFill>
                <a:latin typeface="+mn-lt"/>
                <a:ea typeface="微软雅黑" panose="020B0503020204020204" charset="-122"/>
              </a:rPr>
              <a:t>一、</a:t>
            </a:r>
            <a:r>
              <a:rPr kumimoji="0" lang="en-US" altLang="zh-CN" sz="2600" b="1" dirty="0">
                <a:solidFill>
                  <a:srgbClr val="FF0000"/>
                </a:solidFill>
                <a:latin typeface="+mn-lt"/>
                <a:ea typeface="微软雅黑" panose="020B0503020204020204" charset="-122"/>
              </a:rPr>
              <a:t>NLP</a:t>
            </a:r>
            <a:r>
              <a:rPr kumimoji="0" lang="zh-CN" altLang="en-US" sz="2600" b="1" dirty="0">
                <a:solidFill>
                  <a:srgbClr val="FF0000"/>
                </a:solidFill>
                <a:latin typeface="+mn-lt"/>
                <a:ea typeface="微软雅黑" panose="020B0503020204020204" charset="-122"/>
              </a:rPr>
              <a:t>任务中深度学习模型的选择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6885" y="331470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accent5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提纲</a:t>
            </a:r>
          </a:p>
        </p:txBody>
      </p:sp>
    </p:spTree>
    <p:extLst>
      <p:ext uri="{BB962C8B-B14F-4D97-AF65-F5344CB8AC3E}">
        <p14:creationId xmlns:p14="http://schemas.microsoft.com/office/powerpoint/2010/main" val="2619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50907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模型选择</a:t>
            </a:r>
            <a:r>
              <a:rPr 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--RNN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45475" y="2209422"/>
            <a:ext cx="9453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+mj-ea"/>
                <a:ea typeface="+mj-ea"/>
                <a:cs typeface="黑体" panose="02010609060101010101" pitchFamily="49" charset="-122"/>
              </a:rPr>
              <a:t>RNN是一种适用于序列数据的神经网络</a:t>
            </a:r>
            <a:r>
              <a:rPr lang="zh-CN" altLang="en-US" sz="2000">
                <a:latin typeface="+mj-ea"/>
                <a:ea typeface="+mj-ea"/>
              </a:rPr>
              <a:t>，能够通过上下文文本处理文本数据。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5475" y="2608202"/>
            <a:ext cx="107226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输入嵌入</a:t>
            </a:r>
          </a:p>
          <a:p>
            <a:r>
              <a:rPr lang="zh-CN" altLang="en-US" dirty="0">
                <a:solidFill>
                  <a:schemeClr val="tx1"/>
                </a:solidFill>
                <a:latin typeface="+mj-ea"/>
                <a:ea typeface="+mj-ea"/>
                <a:cs typeface="黑体" panose="02010609060101010101" pitchFamily="49" charset="-122"/>
              </a:rPr>
              <a:t>将文本中的每个单词映射为向量表示（embedding）。</a:t>
            </a:r>
            <a:endParaRPr lang="zh-CN" altLang="en-US" dirty="0">
              <a:solidFill>
                <a:srgbClr val="FF0000"/>
              </a:solidFill>
              <a:latin typeface="+mj-ea"/>
              <a:ea typeface="+mj-ea"/>
              <a:cs typeface="黑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时间步输入（</a:t>
            </a: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Time Step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）</a:t>
            </a:r>
          </a:p>
          <a:p>
            <a:r>
              <a:rPr lang="zh-CN" altLang="en-US" dirty="0">
                <a:latin typeface="+mj-ea"/>
                <a:ea typeface="+mj-ea"/>
                <a:cs typeface="黑体" panose="02010609060101010101" pitchFamily="49" charset="-122"/>
              </a:rPr>
              <a:t>将嵌入向量序列作为RNN的输入。在序列中，每个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时间步</a:t>
            </a:r>
            <a:r>
              <a:rPr lang="zh-CN" altLang="en-US" dirty="0">
                <a:latin typeface="+mj-ea"/>
                <a:ea typeface="+mj-ea"/>
                <a:cs typeface="黑体" panose="02010609060101010101" pitchFamily="49" charset="-122"/>
              </a:rPr>
              <a:t>都对应一个单词的嵌入向量。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循环计算</a:t>
            </a:r>
          </a:p>
          <a:p>
            <a:r>
              <a:rPr lang="zh-CN" altLang="en-US" dirty="0">
                <a:latin typeface="+mj-ea"/>
                <a:ea typeface="+mj-ea"/>
                <a:cs typeface="黑体" panose="02010609060101010101" pitchFamily="49" charset="-122"/>
              </a:rPr>
              <a:t>在每个时间步，RNN通过将当前时间步的输入与上一时间步的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隐藏状态</a:t>
            </a:r>
            <a:r>
              <a:rPr lang="zh-CN" altLang="en-US" dirty="0">
                <a:latin typeface="+mj-ea"/>
                <a:ea typeface="+mj-ea"/>
                <a:cs typeface="黑体" panose="02010609060101010101" pitchFamily="49" charset="-122"/>
              </a:rPr>
              <a:t>结合，产生一个新的隐藏状态。这个隐藏状态将在下一个时间步继续被用作输入。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上下文关注</a:t>
            </a:r>
          </a:p>
          <a:p>
            <a:r>
              <a:rPr lang="zh-CN" altLang="en-US" dirty="0">
                <a:latin typeface="+mj-ea"/>
                <a:ea typeface="+mj-ea"/>
                <a:cs typeface="黑体" panose="02010609060101010101" pitchFamily="49" charset="-122"/>
              </a:rPr>
              <a:t>RNN的循环结构使得模型能够在每个时间步捕捉到之前时间步的信息，从而实现对文本序列的上下文关注。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cs typeface="黑体" panose="02010609060101010101" pitchFamily="49" charset="-122"/>
              </a:rPr>
              <a:t>输出层</a:t>
            </a:r>
          </a:p>
          <a:p>
            <a:r>
              <a:rPr lang="zh-CN" altLang="en-US" dirty="0">
                <a:latin typeface="+mj-ea"/>
                <a:ea typeface="+mj-ea"/>
                <a:cs typeface="黑体" panose="02010609060101010101" pitchFamily="49" charset="-122"/>
              </a:rPr>
              <a:t>在文本分类任务中，RNN的最后一个隐藏状态可以被用作全局特征表示。在序列生成任务中，RNN可以通过前一个时间步的输出来生成下一个时间步的输出，实现序列的生成。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4185" y="1496952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  <a:cs typeface="微软雅黑 Light" panose="020B0502040204020203" charset="-122"/>
                <a:sym typeface="+mn-ea"/>
              </a:rPr>
              <a:t>RNN（循环神经网络）</a:t>
            </a:r>
            <a:endParaRPr lang="zh-CN" altLang="en-US" sz="3200" dirty="0">
              <a:latin typeface="+mj-ea"/>
              <a:ea typeface="+mj-ea"/>
              <a:cs typeface="微软雅黑 Light" panose="020B0502040204020203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21070" y="3989327"/>
            <a:ext cx="981635" cy="37592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3" name="直接箭头连接符 12"/>
          <p:cNvCxnSpPr>
            <a:stCxn id="12" idx="0"/>
            <a:endCxn id="14" idx="1"/>
          </p:cNvCxnSpPr>
          <p:nvPr/>
        </p:nvCxnSpPr>
        <p:spPr>
          <a:xfrm flipV="1">
            <a:off x="7711888" y="3049736"/>
            <a:ext cx="663909" cy="9395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8375797" y="2634237"/>
            <a:ext cx="3816203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表示为一个向量，模型对历史信息的编码，可以捕获输入数据中的上下文关系和依赖关系，随着不同时间步更新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971375" y="1295657"/>
            <a:ext cx="2785110" cy="5435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序列中的一个数据点</a:t>
            </a:r>
          </a:p>
          <a:p>
            <a:r>
              <a:rPr lang="en-US" altLang="zh-CN" sz="1600" dirty="0">
                <a:latin typeface="+mj-ea"/>
                <a:ea typeface="+mj-ea"/>
              </a:rPr>
              <a:t>NLP</a:t>
            </a:r>
            <a:r>
              <a:rPr lang="zh-CN" altLang="en-US" sz="1600" dirty="0">
                <a:latin typeface="+mj-ea"/>
                <a:ea typeface="+mj-ea"/>
              </a:rPr>
              <a:t>中通常代表词或字符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6199465" y="1888112"/>
            <a:ext cx="50800" cy="1492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096000" y="3428622"/>
            <a:ext cx="804504" cy="3276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616" y="486681"/>
            <a:ext cx="4588828" cy="1771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99415" y="1272540"/>
            <a:ext cx="8637270" cy="39878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11530" y="374650"/>
            <a:ext cx="50907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模型选择</a:t>
            </a:r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--RNN</a:t>
            </a:r>
          </a:p>
        </p:txBody>
      </p:sp>
      <p:cxnSp>
        <p:nvCxnSpPr>
          <p:cNvPr id="4" name="直接箭头连接符 3"/>
          <p:cNvCxnSpPr>
            <a:endCxn id="6" idx="0"/>
          </p:cNvCxnSpPr>
          <p:nvPr/>
        </p:nvCxnSpPr>
        <p:spPr>
          <a:xfrm>
            <a:off x="6687820" y="4286250"/>
            <a:ext cx="1687830" cy="15074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566920" y="5793740"/>
            <a:ext cx="7616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在RNN的输出层，每个时间步都会生成一个输出向量，表示每个类别的分数。这些分数可能是未归一化的，通过应用Softmax函数，可以将这些分数转化为表示每个类别概率的正数，以便进行分类任务的预测。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32120" y="890270"/>
            <a:ext cx="6124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在RNN的时间步中，输入向量和前一个时间步的隐藏状态会传递到RNN的Cell中，经过一系列的运算后（加权求和并加上偏置项），使用双曲正切函数作为激活函数，将输出限制在[-1, 1]之间。</a:t>
            </a:r>
          </a:p>
        </p:txBody>
      </p:sp>
      <p:cxnSp>
        <p:nvCxnSpPr>
          <p:cNvPr id="9" name="直接箭头连接符 8"/>
          <p:cNvCxnSpPr>
            <a:endCxn id="7" idx="2"/>
          </p:cNvCxnSpPr>
          <p:nvPr/>
        </p:nvCxnSpPr>
        <p:spPr>
          <a:xfrm flipV="1">
            <a:off x="6598285" y="2090599"/>
            <a:ext cx="1996123" cy="13377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99415" y="5514340"/>
            <a:ext cx="292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前一个时间步的隐藏状态</a:t>
            </a:r>
          </a:p>
        </p:txBody>
      </p:sp>
      <p:cxnSp>
        <p:nvCxnSpPr>
          <p:cNvPr id="19" name="直接箭头连接符 18"/>
          <p:cNvCxnSpPr>
            <a:endCxn id="16" idx="0"/>
          </p:cNvCxnSpPr>
          <p:nvPr/>
        </p:nvCxnSpPr>
        <p:spPr>
          <a:xfrm>
            <a:off x="882650" y="3057525"/>
            <a:ext cx="980440" cy="2456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3207385" y="5514340"/>
            <a:ext cx="1141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 Light" panose="020B0502040204020203" charset="-122"/>
                <a:ea typeface="微软雅黑 Light" panose="020B0502040204020203" charset="-122"/>
              </a:rPr>
              <a:t>输入数据（文本的词向量）</a:t>
            </a:r>
          </a:p>
        </p:txBody>
      </p:sp>
      <p:cxnSp>
        <p:nvCxnSpPr>
          <p:cNvPr id="21" name="直接箭头连接符 20"/>
          <p:cNvCxnSpPr>
            <a:cxnSpLocks/>
            <a:endCxn id="20" idx="0"/>
          </p:cNvCxnSpPr>
          <p:nvPr/>
        </p:nvCxnSpPr>
        <p:spPr>
          <a:xfrm>
            <a:off x="3207385" y="5098415"/>
            <a:ext cx="570865" cy="415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1765935" y="1640840"/>
            <a:ext cx="1025525" cy="78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215390" y="1272540"/>
            <a:ext cx="1119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偏置项</a:t>
            </a:r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 flipH="1" flipV="1">
            <a:off x="3522345" y="1443990"/>
            <a:ext cx="619125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2402840" y="1272540"/>
            <a:ext cx="1119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当前输出</a:t>
            </a: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4566920" y="2189480"/>
            <a:ext cx="292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 Light" panose="020B0502040204020203" charset="-122"/>
                <a:ea typeface="微软雅黑 Light" panose="020B0502040204020203" charset="-122"/>
              </a:rPr>
              <a:t>当前时间步的隐藏状态</a:t>
            </a:r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5003800" y="2557780"/>
            <a:ext cx="223520" cy="1625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CB3C317D-92D9-5E0D-3423-838A87C7CBDC}"/>
              </a:ext>
            </a:extLst>
          </p:cNvPr>
          <p:cNvSpPr/>
          <p:nvPr/>
        </p:nvSpPr>
        <p:spPr>
          <a:xfrm>
            <a:off x="9521825" y="2286317"/>
            <a:ext cx="1811655" cy="868045"/>
          </a:xfrm>
          <a:prstGeom prst="wedgeRectCallout">
            <a:avLst>
              <a:gd name="adj1" fmla="val -241722"/>
              <a:gd name="adj2" fmla="val -1130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学习数据中的复杂模式和关系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6436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模型选择</a:t>
            </a:r>
            <a:r>
              <a:rPr 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—RNN(</a:t>
            </a:r>
            <a:r>
              <a:rPr lang="zh-CN" alt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示例</a:t>
            </a:r>
            <a:r>
              <a:rPr 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27767"/>
            <a:ext cx="5524500" cy="2447925"/>
          </a:xfrm>
          <a:prstGeom prst="rect">
            <a:avLst/>
          </a:prstGeom>
        </p:spPr>
      </p:pic>
      <p:sp>
        <p:nvSpPr>
          <p:cNvPr id="8" name="箭头: 上 7"/>
          <p:cNvSpPr/>
          <p:nvPr/>
        </p:nvSpPr>
        <p:spPr>
          <a:xfrm>
            <a:off x="3119719" y="2292864"/>
            <a:ext cx="154642" cy="3091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732864" y="1943521"/>
            <a:ext cx="4982135" cy="289111"/>
          </a:xfrm>
          <a:prstGeom prst="roundRect">
            <a:avLst>
              <a:gd name="adj" fmla="val 422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CategoryID</a:t>
            </a:r>
            <a:endParaRPr lang="zh-CN" altLang="en-US" sz="1600" dirty="0"/>
          </a:p>
        </p:txBody>
      </p:sp>
      <p:sp>
        <p:nvSpPr>
          <p:cNvPr id="12" name="矩形: 圆角 11"/>
          <p:cNvSpPr/>
          <p:nvPr/>
        </p:nvSpPr>
        <p:spPr>
          <a:xfrm>
            <a:off x="783293" y="5177117"/>
            <a:ext cx="4982135" cy="289111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Documents</a:t>
            </a:r>
            <a:endParaRPr lang="zh-CN" altLang="en-US" sz="1600" dirty="0"/>
          </a:p>
        </p:txBody>
      </p:sp>
      <p:sp>
        <p:nvSpPr>
          <p:cNvPr id="13" name="箭头: 上 12"/>
          <p:cNvSpPr/>
          <p:nvPr/>
        </p:nvSpPr>
        <p:spPr>
          <a:xfrm>
            <a:off x="3146610" y="4894660"/>
            <a:ext cx="154642" cy="2353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7200" y="2467535"/>
            <a:ext cx="5365376" cy="250815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00804" y="1295774"/>
            <a:ext cx="519392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数据预处理</a:t>
            </a:r>
          </a:p>
          <a:p>
            <a:r>
              <a:rPr lang="zh-CN" altLang="en-US" dirty="0"/>
              <a:t>对于原始文本数据，需要进行预处理，包括分词、去除停用词、词向量化等操作。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建立模型</a:t>
            </a:r>
          </a:p>
          <a:p>
            <a:r>
              <a:rPr lang="zh-CN" altLang="en-US" dirty="0"/>
              <a:t>常见的模型包括基于</a:t>
            </a:r>
            <a:r>
              <a:rPr lang="en-US" altLang="zh-CN" dirty="0"/>
              <a:t>LSTM</a:t>
            </a:r>
            <a:r>
              <a:rPr lang="zh-CN" altLang="en-US" dirty="0"/>
              <a:t>（</a:t>
            </a:r>
            <a:r>
              <a:rPr lang="en-US" altLang="zh-CN" dirty="0"/>
              <a:t>Long Short-Term Memory</a:t>
            </a:r>
            <a:r>
              <a:rPr lang="zh-CN" altLang="en-US" dirty="0"/>
              <a:t>）和</a:t>
            </a:r>
            <a:r>
              <a:rPr lang="en-US" altLang="zh-CN" dirty="0"/>
              <a:t>GRU</a:t>
            </a:r>
            <a:r>
              <a:rPr lang="zh-CN" altLang="en-US" dirty="0"/>
              <a:t>（</a:t>
            </a:r>
            <a:r>
              <a:rPr lang="en-US" altLang="zh-CN" dirty="0"/>
              <a:t>Gated Recurrent Unit</a:t>
            </a:r>
            <a:r>
              <a:rPr lang="zh-CN" altLang="en-US" dirty="0"/>
              <a:t>）的模型。</a:t>
            </a:r>
            <a:endParaRPr lang="en-US" altLang="zh-CN" dirty="0"/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训练模型</a:t>
            </a:r>
          </a:p>
          <a:p>
            <a:r>
              <a:rPr lang="zh-CN" altLang="en-US" dirty="0"/>
              <a:t>在训练模型时，需要将数据集分为训练集和测试集。训练集用于训练模型，测试集用于评估模型的性能。常见的评估指标包括准确率、精确率、召回率和</a:t>
            </a:r>
            <a:r>
              <a:rPr lang="en-US" altLang="zh-CN" dirty="0"/>
              <a:t>F1</a:t>
            </a:r>
            <a:r>
              <a:rPr lang="zh-CN" altLang="en-US" dirty="0"/>
              <a:t>值等。</a:t>
            </a:r>
            <a:endParaRPr lang="en-US" altLang="zh-CN" dirty="0"/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模型调参</a:t>
            </a:r>
          </a:p>
          <a:p>
            <a:r>
              <a:rPr lang="zh-CN" altLang="en-US" dirty="0"/>
              <a:t>在训练模型时，需要对一些参数进行调优，以提高模型的性能。常见的参数包括学习率、隐藏层数、神经元个数等。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29680" y="674400"/>
            <a:ext cx="5636499" cy="5755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zh-CN" altLang="en-US" sz="1600" dirty="0"/>
          </a:p>
          <a:p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</a:rPr>
              <a:t># 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划分训练集和测试集</a:t>
            </a:r>
          </a:p>
          <a:p>
            <a:r>
              <a:rPr lang="en-US" altLang="zh-CN" sz="1600" dirty="0" err="1"/>
              <a:t>train_x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test_x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train_y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test_y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train_test_split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padded_sequences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categorical_labels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test_size</a:t>
            </a:r>
            <a:r>
              <a:rPr lang="en-US" altLang="zh-CN" sz="1600" dirty="0"/>
              <a:t>=0.30, </a:t>
            </a:r>
            <a:r>
              <a:rPr lang="en-US" altLang="zh-CN" sz="1600" dirty="0" err="1"/>
              <a:t>random_state</a:t>
            </a:r>
            <a:r>
              <a:rPr lang="en-US" altLang="zh-CN" sz="1600" dirty="0"/>
              <a:t>=7)</a:t>
            </a:r>
          </a:p>
          <a:p>
            <a:endParaRPr lang="en-US" altLang="zh-CN" sz="1600" dirty="0"/>
          </a:p>
          <a:p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</a:rPr>
              <a:t># 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定义模型</a:t>
            </a:r>
          </a:p>
          <a:p>
            <a:r>
              <a:rPr lang="en-US" altLang="zh-CN" sz="1600" dirty="0"/>
              <a:t>model = Sequential()</a:t>
            </a:r>
          </a:p>
          <a:p>
            <a:r>
              <a:rPr lang="en-US" altLang="zh-CN" sz="1600" dirty="0" err="1"/>
              <a:t>model.add</a:t>
            </a:r>
            <a:r>
              <a:rPr lang="en-US" altLang="zh-CN" sz="1600" dirty="0"/>
              <a:t>(Embedding(</a:t>
            </a:r>
            <a:r>
              <a:rPr lang="en-US" altLang="zh-CN" sz="1600" dirty="0" err="1"/>
              <a:t>input_dim</a:t>
            </a:r>
            <a:r>
              <a:rPr lang="en-US" altLang="zh-CN" sz="1600" dirty="0"/>
              <a:t>=</a:t>
            </a:r>
            <a:r>
              <a:rPr lang="en-US" altLang="zh-CN" sz="1600" dirty="0" err="1"/>
              <a:t>len</a:t>
            </a:r>
            <a:r>
              <a:rPr lang="en-US" altLang="zh-CN" sz="1600" dirty="0"/>
              <a:t>(vocab), </a:t>
            </a:r>
            <a:r>
              <a:rPr lang="en-US" altLang="zh-CN" sz="1600" dirty="0" err="1"/>
              <a:t>output_dim</a:t>
            </a:r>
            <a:r>
              <a:rPr lang="en-US" altLang="zh-CN" sz="1600" dirty="0"/>
              <a:t>=50, </a:t>
            </a:r>
            <a:r>
              <a:rPr lang="en-US" altLang="zh-CN" sz="1600" dirty="0" err="1"/>
              <a:t>input_length</a:t>
            </a:r>
            <a:r>
              <a:rPr lang="en-US" altLang="zh-CN" sz="1600" dirty="0"/>
              <a:t>=</a:t>
            </a:r>
            <a:r>
              <a:rPr lang="en-US" altLang="zh-CN" sz="1600" dirty="0" err="1"/>
              <a:t>max_sequence_length</a:t>
            </a:r>
            <a:r>
              <a:rPr lang="en-US" altLang="zh-CN" sz="1600" dirty="0"/>
              <a:t>))</a:t>
            </a:r>
          </a:p>
          <a:p>
            <a:r>
              <a:rPr lang="en-US" altLang="zh-CN" sz="1600" dirty="0" err="1"/>
              <a:t>model.add</a:t>
            </a:r>
            <a:r>
              <a:rPr lang="en-US" altLang="zh-CN" sz="1600" dirty="0"/>
              <a:t>(LSTM(100))</a:t>
            </a:r>
          </a:p>
          <a:p>
            <a:r>
              <a:rPr lang="en-US" altLang="zh-CN" sz="1600" dirty="0" err="1"/>
              <a:t>model.add</a:t>
            </a:r>
            <a:r>
              <a:rPr lang="en-US" altLang="zh-CN" sz="1600" dirty="0"/>
              <a:t>(Dense(2, activation='</a:t>
            </a:r>
            <a:r>
              <a:rPr lang="en-US" altLang="zh-CN" sz="1600" dirty="0" err="1"/>
              <a:t>softmax</a:t>
            </a:r>
            <a:r>
              <a:rPr lang="en-US" altLang="zh-CN" sz="1600" dirty="0"/>
              <a:t>'))</a:t>
            </a:r>
          </a:p>
          <a:p>
            <a:endParaRPr lang="en-US" altLang="zh-CN" sz="1600" dirty="0"/>
          </a:p>
          <a:p>
            <a:r>
              <a:rPr lang="en-US" altLang="zh-CN" sz="1600" dirty="0" err="1"/>
              <a:t>model.compile</a:t>
            </a:r>
            <a:r>
              <a:rPr lang="en-US" altLang="zh-CN" sz="1600" dirty="0"/>
              <a:t>(loss='</a:t>
            </a:r>
            <a:r>
              <a:rPr lang="en-US" altLang="zh-CN" sz="1600" dirty="0" err="1"/>
              <a:t>categorical_crossentropy</a:t>
            </a:r>
            <a:r>
              <a:rPr lang="en-US" altLang="zh-CN" sz="1600" dirty="0"/>
              <a:t>', optimizer='</a:t>
            </a:r>
            <a:r>
              <a:rPr lang="en-US" altLang="zh-CN" sz="1600" dirty="0" err="1"/>
              <a:t>adam</a:t>
            </a:r>
            <a:r>
              <a:rPr lang="en-US" altLang="zh-CN" sz="1600" dirty="0"/>
              <a:t>', metrics=['accuracy'])</a:t>
            </a:r>
          </a:p>
          <a:p>
            <a:endParaRPr lang="en-US" altLang="zh-CN" sz="1600" dirty="0"/>
          </a:p>
          <a:p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</a:rPr>
              <a:t># 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训练模型</a:t>
            </a:r>
          </a:p>
          <a:p>
            <a:r>
              <a:rPr lang="en-US" altLang="zh-CN" sz="1600" dirty="0" err="1"/>
              <a:t>model.fit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train_x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train_y</a:t>
            </a:r>
            <a:r>
              <a:rPr lang="en-US" altLang="zh-CN" sz="1600" dirty="0"/>
              <a:t>, epochs=10, </a:t>
            </a:r>
            <a:r>
              <a:rPr lang="en-US" altLang="zh-CN" sz="1600" dirty="0" err="1"/>
              <a:t>batch_size</a:t>
            </a:r>
            <a:r>
              <a:rPr lang="en-US" altLang="zh-CN" sz="1600" dirty="0"/>
              <a:t>=5)</a:t>
            </a:r>
          </a:p>
          <a:p>
            <a:endParaRPr lang="en-US" altLang="zh-CN" sz="1600" dirty="0"/>
          </a:p>
          <a:p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</a:rPr>
              <a:t># 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</a:rPr>
              <a:t>测试集预测结果</a:t>
            </a:r>
          </a:p>
          <a:p>
            <a:r>
              <a:rPr lang="en-US" altLang="zh-CN" sz="1600" dirty="0" err="1"/>
              <a:t>y_pred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model.predict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test_x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 err="1"/>
              <a:t>y_pred_classes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np.argmax</a:t>
            </a:r>
            <a:r>
              <a:rPr lang="en-US" altLang="zh-CN" sz="1600" dirty="0"/>
              <a:t>(</a:t>
            </a:r>
            <a:r>
              <a:rPr lang="en-US" altLang="zh-CN" sz="1600" dirty="0" err="1"/>
              <a:t>y_pred</a:t>
            </a:r>
            <a:r>
              <a:rPr lang="en-US" altLang="zh-CN" sz="1600" dirty="0"/>
              <a:t>, axis=1)</a:t>
            </a:r>
          </a:p>
          <a:p>
            <a:r>
              <a:rPr lang="en-US" altLang="zh-CN" sz="1600" dirty="0" err="1"/>
              <a:t>test_y_classes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np.argmax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test_y</a:t>
            </a:r>
            <a:r>
              <a:rPr lang="en-US" altLang="zh-CN" sz="1600" dirty="0"/>
              <a:t>, axis=1)</a:t>
            </a:r>
            <a:endParaRPr lang="zh-CN" altLang="en-US" sz="1600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53572" y="463987"/>
            <a:ext cx="6436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模型选择</a:t>
            </a:r>
            <a:r>
              <a:rPr 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—RNN(</a:t>
            </a:r>
            <a:r>
              <a:rPr lang="zh-CN" alt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示例</a:t>
            </a:r>
            <a:r>
              <a:rPr lang="en-US" sz="4000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7610" y="1734723"/>
            <a:ext cx="5636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定义一个用于文本分类的神经网络模型，它由一个嵌入层、一个</a:t>
            </a:r>
            <a:r>
              <a:rPr lang="en-US" altLang="zh-CN" dirty="0"/>
              <a:t>LSTM</a:t>
            </a:r>
            <a:r>
              <a:rPr lang="zh-CN" altLang="en-US" dirty="0"/>
              <a:t>层和一个输出层组成。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模型被编译以使用分类交叉熵损失函数和</a:t>
            </a:r>
            <a:r>
              <a:rPr lang="en-US" altLang="zh-CN" dirty="0"/>
              <a:t>Adam</a:t>
            </a:r>
            <a:r>
              <a:rPr lang="zh-CN" altLang="en-US" dirty="0"/>
              <a:t>优化器，并且会计算训练过程中的准确率。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5720" y="3552111"/>
            <a:ext cx="592028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import numpy as np</a:t>
            </a:r>
          </a:p>
          <a:p>
            <a:r>
              <a:rPr lang="zh-CN" altLang="en-US" dirty="0"/>
              <a:t>import jieba</a:t>
            </a:r>
          </a:p>
          <a:p>
            <a:r>
              <a:rPr lang="zh-CN" altLang="en-US" dirty="0"/>
              <a:t>from tensorflow.keras.models import Sequential</a:t>
            </a:r>
          </a:p>
          <a:p>
            <a:r>
              <a:rPr lang="zh-CN" altLang="en-US" dirty="0"/>
              <a:t>from tensorflow.keras.layers import Embedding, LSTM, Dense</a:t>
            </a:r>
          </a:p>
          <a:p>
            <a:r>
              <a:rPr lang="zh-CN" altLang="en-US" dirty="0"/>
              <a:t>from tensorflow.keras.preprocessing.sequence import pad_sequences</a:t>
            </a:r>
          </a:p>
          <a:p>
            <a:r>
              <a:rPr lang="zh-CN" altLang="en-US" dirty="0"/>
              <a:t>from tensorflow.keras.utils import to_categorical</a:t>
            </a:r>
          </a:p>
          <a:p>
            <a:r>
              <a:rPr lang="zh-CN" altLang="en-US" dirty="0"/>
              <a:t>from sklearn.model_selection import train_test_split</a:t>
            </a:r>
          </a:p>
          <a:p>
            <a:r>
              <a:rPr lang="zh-CN" altLang="en-US" dirty="0"/>
              <a:t>from sklearn.metrics import f1_score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简介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75690" y="1490980"/>
            <a:ext cx="55994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ransformer是一种革命性的神经网络架构，专为处理序列数据而设计。它通过自注意力机制在不同位置之间建立联系，从而捕获上下文信息。Transformer在自然语言处理等领域取得重大成功，如BERT。它的并行性和扩展性使其在文本生成、翻译、问答等任务中表现卓越。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06310" y="164465"/>
            <a:ext cx="4278630" cy="61106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75690" y="3838575"/>
            <a:ext cx="5435600" cy="1978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Transformer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是一个依赖注意力机制的神经网络架构。在机器学习中，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注意力机制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赋予模型处理不同部分数据的能力不同权重，从而更关注相关信息。通过计算相似性，注意力机制使模型能够聚焦于输入中最重要的部分，用于多种任务，如翻译、生成和推理。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422640" y="6344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Transformer</a:t>
            </a:r>
            <a:r>
              <a:rPr lang="zh-CN" altLang="en-US"/>
              <a:t>架构图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91846" y="6226810"/>
            <a:ext cx="6242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-apple-system"/>
              </a:rPr>
              <a:t>《</a:t>
            </a:r>
            <a:r>
              <a:rPr lang="en-US" altLang="zh-CN" b="1" i="0" dirty="0">
                <a:effectLst/>
                <a:latin typeface="-apple-system"/>
              </a:rPr>
              <a:t>Attention is All You Need</a:t>
            </a:r>
            <a:r>
              <a:rPr lang="en-US" altLang="zh-CN" b="0" i="0" dirty="0">
                <a:effectLst/>
                <a:latin typeface="-apple-system"/>
              </a:rPr>
              <a:t>》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的工作流程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78890" y="1383665"/>
            <a:ext cx="9592945" cy="815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获取输入句子的每一个单词的表示向量X。X由单词的 Embedding（即从原始数据提取出来的Feature）和单词位置的 Embedding 相加得到。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57020" y="2501900"/>
            <a:ext cx="9148445" cy="3810000"/>
          </a:xfrm>
          <a:prstGeom prst="rect">
            <a:avLst/>
          </a:prstGeom>
        </p:spPr>
      </p:pic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4BD89828-C7E9-9D97-4333-53F5079EE716}"/>
              </a:ext>
            </a:extLst>
          </p:cNvPr>
          <p:cNvSpPr/>
          <p:nvPr/>
        </p:nvSpPr>
        <p:spPr>
          <a:xfrm>
            <a:off x="714565" y="4790003"/>
            <a:ext cx="3566765" cy="1186903"/>
          </a:xfrm>
          <a:prstGeom prst="borderCallout2">
            <a:avLst>
              <a:gd name="adj1" fmla="val -957"/>
              <a:gd name="adj2" fmla="val 8085"/>
              <a:gd name="adj3" fmla="val -48853"/>
              <a:gd name="adj4" fmla="val 39800"/>
              <a:gd name="adj5" fmla="val -81772"/>
              <a:gd name="adj6" fmla="val 634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一个与词嵌入向量维度相同的向量，用于表示每个词的位置信息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实现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09030" y="268605"/>
            <a:ext cx="4613910" cy="65893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8470" y="3804285"/>
            <a:ext cx="5762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注意力头，在这个结构中，输入被分为查询（Q）、键（K）和值（V），然后通过计算注意力权重来获得加权的值。多个头的结果被级联在一起，经过线性变换得到最终的注意力输出。</a:t>
            </a:r>
          </a:p>
        </p:txBody>
      </p:sp>
      <p:cxnSp>
        <p:nvCxnSpPr>
          <p:cNvPr id="4" name="直接箭头连接符 3"/>
          <p:cNvCxnSpPr>
            <a:endCxn id="3" idx="3"/>
          </p:cNvCxnSpPr>
          <p:nvPr/>
        </p:nvCxnSpPr>
        <p:spPr>
          <a:xfrm flipH="1" flipV="1">
            <a:off x="6221095" y="4219575"/>
            <a:ext cx="1119505" cy="1022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58470" y="4782883"/>
            <a:ext cx="5540375" cy="2617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查询（Q）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：查询是用于检索信息的向量。在自注意力机制中，每个位置的输入向量都将被用作查询，以便在序列中寻找相关的信息。</a:t>
            </a:r>
          </a:p>
          <a:p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键（K）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：键是用于表示信息的向量。键的作用是帮助模型确定不同位置之间的关系。</a:t>
            </a:r>
          </a:p>
          <a:p>
            <a:r>
              <a:rPr lang="zh-CN" altLang="en-US" sz="1600" dirty="0">
                <a:solidFill>
                  <a:srgbClr val="FF000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值（V）</a:t>
            </a:r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：值是实际的信息向量。每个位置的输入向量也将被用作值。值的作用是存储原始信息，模型将根据查询和键的关系对这些值进行加权组合，以获取加权后的信息。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1485" y="3121660"/>
            <a:ext cx="5383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前馈神经网络（Feedforward Neural Network）</a:t>
            </a:r>
          </a:p>
          <a:p>
            <a:r>
              <a:rPr lang="zh-CN" altLang="en-US" sz="1600" dirty="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用于捕获特征关系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4811395" y="3408045"/>
            <a:ext cx="2294255" cy="40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527165" y="2393315"/>
            <a:ext cx="2009775" cy="274066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3765550" y="2362835"/>
            <a:ext cx="2771775" cy="40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938020" y="2122170"/>
            <a:ext cx="16789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微软雅黑 Light" panose="020B0502040204020203" charset="-122"/>
                <a:ea typeface="微软雅黑 Light" panose="020B0502040204020203" charset="-122"/>
              </a:rPr>
              <a:t>Encoder</a:t>
            </a: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8536940" y="1860550"/>
            <a:ext cx="1979930" cy="327279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3785870" y="1763395"/>
            <a:ext cx="4730750" cy="121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1938020" y="1460500"/>
            <a:ext cx="16789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微软雅黑 Light" panose="020B0502040204020203" charset="-122"/>
                <a:ea typeface="微软雅黑 Light" panose="020B0502040204020203" charset="-122"/>
              </a:rPr>
              <a:t>Decoder</a:t>
            </a:r>
          </a:p>
        </p:txBody>
      </p:sp>
      <p:pic>
        <p:nvPicPr>
          <p:cNvPr id="6" name="图片 5" descr="文本&#10;&#10;描述已自动生成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391" y="1015204"/>
            <a:ext cx="1719275" cy="614367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>
            <a:off x="8090906" y="1589405"/>
            <a:ext cx="446034" cy="542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2" idx="0"/>
          </p:cNvCxnSpPr>
          <p:nvPr/>
        </p:nvCxnSpPr>
        <p:spPr>
          <a:xfrm flipV="1">
            <a:off x="7532053" y="1614170"/>
            <a:ext cx="368094" cy="779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en-US" altLang="zh-CN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--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自注意力机制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75690" y="1673860"/>
            <a:ext cx="559943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生成查询、键和值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 对于输入序列中的每个位置，通过线性映射，生成查询（Q）、键（K）和值（V）向量，用来表示这些位置的特征。</a:t>
            </a:r>
          </a:p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计算相似性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 对于每个查询向量，计算其与所有键向量之间的相似性分数。通常使用点积或其他相似性度量来计算分数。</a:t>
            </a:r>
          </a:p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计算注意权重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 通过将相似性分数归一化（应用Softmax函数），得到注意权重。这些权重决定了在值向量中对应键向量的重要性。</a:t>
            </a:r>
          </a:p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加权求和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 使用注意权重对值向量进行加权求和，得到加权上下文向量。这代表了查询向量在上下文中的信息。</a:t>
            </a:r>
          </a:p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输出生成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 加权上下文向量即为自注意力机制的输出，可以作为模型的输入，也可以用于下游任务。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75690" y="11531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自注意力机制实现原理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89445" y="1345565"/>
            <a:ext cx="4895850" cy="53200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的结构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16330" y="2517140"/>
            <a:ext cx="3040380" cy="2389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编码组件部分由一堆编码器(encoder)构成（论文中是将6个编码器叠在一起)。</a:t>
            </a:r>
          </a:p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解码组件部分也是由相同数量(与编码器对应)的解码器 (decoder)组成的。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29480" y="1552575"/>
            <a:ext cx="6878320" cy="5076190"/>
          </a:xfrm>
          <a:prstGeom prst="rect">
            <a:avLst/>
          </a:prstGeom>
        </p:spPr>
      </p:pic>
      <p:pic>
        <p:nvPicPr>
          <p:cNvPr id="4" name="图片 3" descr="图形用户界面, 应用程序&#10;&#10;描述已自动生成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38"/>
          <a:stretch>
            <a:fillRect/>
          </a:stretch>
        </p:blipFill>
        <p:spPr>
          <a:xfrm>
            <a:off x="2480983" y="4757824"/>
            <a:ext cx="2568836" cy="9975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的工作流程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197610" y="2108200"/>
                <a:ext cx="5031105" cy="8159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42900" indent="-342900">
                  <a:buFont typeface="Wingdings" panose="05000000000000000000" charset="0"/>
                  <a:buChar char="l"/>
                </a:pPr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将得到的单词表示向量矩阵 (如上图所示，每一行是一个单词的表示 x) 传入 Encoder 中，经过 6 个 Encoder block 后可以得到句子所有单词的编码信息矩阵 C，如下图。单词向量矩阵用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200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表示， n 是句子中单词个数，d 是表示向量的维度(论文中 d=512)。每一个 Encoder block 输出的矩阵维度与输入完全一致。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610" y="2108200"/>
                <a:ext cx="5031105" cy="815975"/>
              </a:xfrm>
              <a:prstGeom prst="rect">
                <a:avLst/>
              </a:prstGeom>
              <a:blipFill rotWithShape="1">
                <a:blip r:embed="rId5"/>
                <a:stretch>
                  <a:fillRect b="-2417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32930" y="684530"/>
            <a:ext cx="4137660" cy="58140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811530" y="374650"/>
            <a:ext cx="8785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Transformer</a:t>
            </a:r>
            <a:r>
              <a:rPr lang="zh-CN" altLang="en-US" sz="40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的工作流程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97610" y="1346200"/>
            <a:ext cx="8399780" cy="1924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将 Encoder 输出的编码信息矩阵C传递到 Decoder 中，Decoder 依次会根据当前翻译过的单词 1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→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 翻译下一个单词 i+1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71090" y="2243455"/>
            <a:ext cx="7450455" cy="4319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剪去单角的矩形 2"/>
          <p:cNvSpPr/>
          <p:nvPr/>
        </p:nvSpPr>
        <p:spPr>
          <a:xfrm>
            <a:off x="527685" y="357505"/>
            <a:ext cx="1319530" cy="720725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39467" y="2685514"/>
            <a:ext cx="8375759" cy="538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zh-CN" altLang="en-US" sz="2600" b="1" dirty="0">
                <a:solidFill>
                  <a:srgbClr val="FF0000"/>
                </a:solidFill>
                <a:latin typeface="+mn-lt"/>
                <a:ea typeface="微软雅黑" panose="020B0503020204020204" charset="-122"/>
                <a:sym typeface="Calibri" panose="020F0502020204030204" charset="0"/>
              </a:rPr>
              <a:t>二、</a:t>
            </a:r>
            <a:r>
              <a:rPr lang="zh-CN" altLang="en-US" sz="2600" b="1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预训练语言模型</a:t>
            </a:r>
          </a:p>
        </p:txBody>
      </p:sp>
      <p:sp>
        <p:nvSpPr>
          <p:cNvPr id="9" name="矩形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9467" y="1816111"/>
            <a:ext cx="8375759" cy="538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</a:rPr>
              <a:t>一、</a:t>
            </a:r>
            <a:r>
              <a:rPr kumimoji="0" lang="en-US" altLang="zh-CN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</a:rPr>
              <a:t>NLP</a:t>
            </a:r>
            <a:r>
              <a:rPr kumimoji="0" lang="zh-CN" altLang="en-US" sz="2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软雅黑" panose="020B0503020204020204" charset="-122"/>
              </a:rPr>
              <a:t>任务中深度学习模型的选择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6885" y="331470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accent5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提纲</a:t>
            </a:r>
          </a:p>
        </p:txBody>
      </p:sp>
    </p:spTree>
    <p:extLst>
      <p:ext uri="{BB962C8B-B14F-4D97-AF65-F5344CB8AC3E}">
        <p14:creationId xmlns:p14="http://schemas.microsoft.com/office/powerpoint/2010/main" val="756523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4944522" cy="6778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9591" y="1374683"/>
            <a:ext cx="6812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NLP </a:t>
            </a:r>
            <a:r>
              <a:rPr lang="zh-CN" altLang="en-US" sz="2800" b="1" dirty="0"/>
              <a:t>预训练模型的发展</a:t>
            </a:r>
          </a:p>
        </p:txBody>
      </p:sp>
      <p:sp>
        <p:nvSpPr>
          <p:cNvPr id="5" name="圆角矩形 6"/>
          <p:cNvSpPr/>
          <p:nvPr/>
        </p:nvSpPr>
        <p:spPr>
          <a:xfrm>
            <a:off x="5059278" y="1649620"/>
            <a:ext cx="1245136" cy="368175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</a:rPr>
              <a:t>语言模型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070789" y="2344956"/>
            <a:ext cx="1222113" cy="368175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word2vec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139863" y="3064850"/>
            <a:ext cx="967059" cy="368174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glove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189753" y="3792970"/>
            <a:ext cx="967059" cy="368174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fasttext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216618" y="4512863"/>
            <a:ext cx="967059" cy="368174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elmo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047765" y="5249346"/>
            <a:ext cx="1484355" cy="368174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openAI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-GPT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3" name="直接箭头连接符 12"/>
          <p:cNvCxnSpPr>
            <a:stCxn id="5" idx="2"/>
            <a:endCxn id="8" idx="0"/>
          </p:cNvCxnSpPr>
          <p:nvPr/>
        </p:nvCxnSpPr>
        <p:spPr>
          <a:xfrm>
            <a:off x="5681846" y="2017795"/>
            <a:ext cx="0" cy="327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629153" y="2726285"/>
            <a:ext cx="5757" cy="351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647386" y="3439097"/>
            <a:ext cx="5757" cy="351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5673283" y="4157795"/>
            <a:ext cx="5757" cy="351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700147" y="4889400"/>
            <a:ext cx="0" cy="351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21"/>
          <p:cNvSpPr/>
          <p:nvPr/>
        </p:nvSpPr>
        <p:spPr>
          <a:xfrm>
            <a:off x="5216618" y="5966018"/>
            <a:ext cx="1001597" cy="327161"/>
          </a:xfrm>
          <a:prstGeom prst="roundRect">
            <a:avLst/>
          </a:prstGeom>
          <a:solidFill>
            <a:srgbClr val="FBB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BERT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5698235" y="5614435"/>
            <a:ext cx="0" cy="3515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右大括号 19"/>
          <p:cNvSpPr/>
          <p:nvPr/>
        </p:nvSpPr>
        <p:spPr>
          <a:xfrm>
            <a:off x="9422569" y="2440093"/>
            <a:ext cx="498880" cy="230839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051600" y="2988065"/>
            <a:ext cx="1458264" cy="4985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j-ea"/>
                <a:ea typeface="+mj-ea"/>
              </a:rPr>
              <a:t>词嵌入阶段</a:t>
            </a:r>
          </a:p>
        </p:txBody>
      </p:sp>
      <p:sp>
        <p:nvSpPr>
          <p:cNvPr id="22" name="右大括号 21"/>
          <p:cNvSpPr/>
          <p:nvPr/>
        </p:nvSpPr>
        <p:spPr>
          <a:xfrm rot="10800000">
            <a:off x="3853629" y="4613407"/>
            <a:ext cx="498880" cy="164005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48255" y="5184144"/>
            <a:ext cx="1761400" cy="4985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+mj-ea"/>
                <a:ea typeface="+mj-ea"/>
              </a:rPr>
              <a:t>预训练模型阶段</a:t>
            </a:r>
          </a:p>
        </p:txBody>
      </p:sp>
      <p:sp>
        <p:nvSpPr>
          <p:cNvPr id="24" name="圆角矩形 29"/>
          <p:cNvSpPr/>
          <p:nvPr/>
        </p:nvSpPr>
        <p:spPr>
          <a:xfrm>
            <a:off x="7035598" y="1609927"/>
            <a:ext cx="1803644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+mj-ea"/>
                <a:ea typeface="+mj-ea"/>
              </a:rPr>
              <a:t>2003</a:t>
            </a:r>
            <a:r>
              <a:rPr lang="zh-CN" altLang="en-US" sz="1400" dirty="0">
                <a:latin typeface="+mj-ea"/>
                <a:ea typeface="+mj-ea"/>
              </a:rPr>
              <a:t>年 </a:t>
            </a:r>
            <a:r>
              <a:rPr lang="en-US" altLang="zh-CN" sz="1400" dirty="0" err="1">
                <a:latin typeface="+mj-ea"/>
                <a:ea typeface="+mj-ea"/>
              </a:rPr>
              <a:t>Bengio</a:t>
            </a:r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25" name="圆角矩形 30"/>
          <p:cNvSpPr/>
          <p:nvPr/>
        </p:nvSpPr>
        <p:spPr>
          <a:xfrm>
            <a:off x="7035599" y="2361134"/>
            <a:ext cx="1803643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+mj-ea"/>
                <a:ea typeface="+mj-ea"/>
              </a:rPr>
              <a:t>2013</a:t>
            </a:r>
            <a:r>
              <a:rPr lang="zh-CN" altLang="en-US" sz="1400" dirty="0">
                <a:latin typeface="+mj-ea"/>
                <a:ea typeface="+mj-ea"/>
              </a:rPr>
              <a:t>年  </a:t>
            </a:r>
            <a:r>
              <a:rPr lang="en-US" altLang="zh-CN" sz="1400" dirty="0" err="1">
                <a:latin typeface="+mj-ea"/>
                <a:ea typeface="+mj-ea"/>
              </a:rPr>
              <a:t>Mikolov</a:t>
            </a:r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26" name="圆角矩形 32"/>
          <p:cNvSpPr/>
          <p:nvPr/>
        </p:nvSpPr>
        <p:spPr>
          <a:xfrm>
            <a:off x="7062666" y="3049498"/>
            <a:ext cx="1803643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+mj-ea"/>
                <a:ea typeface="+mj-ea"/>
              </a:rPr>
              <a:t>2014</a:t>
            </a:r>
            <a:r>
              <a:rPr lang="zh-CN" altLang="en-US" sz="1400" dirty="0">
                <a:latin typeface="+mj-ea"/>
                <a:ea typeface="+mj-ea"/>
              </a:rPr>
              <a:t>年  </a:t>
            </a:r>
            <a:r>
              <a:rPr lang="en-US" altLang="zh-CN" sz="1400" dirty="0">
                <a:latin typeface="+mj-ea"/>
                <a:ea typeface="+mj-ea"/>
              </a:rPr>
              <a:t>Jeffrey </a:t>
            </a:r>
            <a:r>
              <a:rPr lang="zh-CN" altLang="en-US" sz="1400" dirty="0">
                <a:latin typeface="+mj-ea"/>
                <a:ea typeface="+mj-ea"/>
              </a:rPr>
              <a:t>  </a:t>
            </a:r>
          </a:p>
        </p:txBody>
      </p:sp>
      <p:sp>
        <p:nvSpPr>
          <p:cNvPr id="27" name="圆角矩形 34"/>
          <p:cNvSpPr/>
          <p:nvPr/>
        </p:nvSpPr>
        <p:spPr>
          <a:xfrm>
            <a:off x="7093176" y="4529040"/>
            <a:ext cx="1803643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+mj-ea"/>
                <a:ea typeface="+mj-ea"/>
              </a:rPr>
              <a:t>2018</a:t>
            </a:r>
            <a:r>
              <a:rPr lang="zh-CN" altLang="en-US" sz="1400" dirty="0">
                <a:latin typeface="+mj-ea"/>
                <a:ea typeface="+mj-ea"/>
              </a:rPr>
              <a:t>年</a:t>
            </a:r>
            <a:r>
              <a:rPr lang="en-US" altLang="zh-CN" sz="1400" dirty="0">
                <a:latin typeface="+mj-ea"/>
                <a:ea typeface="+mj-ea"/>
              </a:rPr>
              <a:t>2</a:t>
            </a:r>
            <a:r>
              <a:rPr lang="zh-CN" altLang="en-US" sz="1400" dirty="0">
                <a:latin typeface="+mj-ea"/>
                <a:ea typeface="+mj-ea"/>
              </a:rPr>
              <a:t>月 </a:t>
            </a:r>
            <a:r>
              <a:rPr lang="en-US" altLang="zh-CN" sz="1400" dirty="0">
                <a:latin typeface="+mj-ea"/>
                <a:ea typeface="+mj-ea"/>
              </a:rPr>
              <a:t>Allen</a:t>
            </a:r>
            <a:r>
              <a:rPr lang="zh-CN" altLang="en-US" sz="1400" dirty="0">
                <a:latin typeface="+mj-ea"/>
                <a:ea typeface="+mj-ea"/>
              </a:rPr>
              <a:t>   </a:t>
            </a:r>
          </a:p>
        </p:txBody>
      </p:sp>
      <p:sp>
        <p:nvSpPr>
          <p:cNvPr id="28" name="圆角矩形 35"/>
          <p:cNvSpPr/>
          <p:nvPr/>
        </p:nvSpPr>
        <p:spPr>
          <a:xfrm>
            <a:off x="7093176" y="3748023"/>
            <a:ext cx="1803643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+mj-ea"/>
                <a:ea typeface="+mj-ea"/>
              </a:rPr>
              <a:t>2016</a:t>
            </a:r>
            <a:r>
              <a:rPr lang="zh-CN" altLang="en-US" sz="1400" dirty="0">
                <a:latin typeface="+mj-ea"/>
                <a:ea typeface="+mj-ea"/>
              </a:rPr>
              <a:t>年 </a:t>
            </a:r>
            <a:r>
              <a:rPr lang="en-US" altLang="zh-CN" sz="1400" dirty="0" err="1">
                <a:latin typeface="+mj-ea"/>
                <a:ea typeface="+mj-ea"/>
              </a:rPr>
              <a:t>facebook</a:t>
            </a:r>
            <a:endParaRPr lang="zh-CN" altLang="en-US" sz="1400" dirty="0">
              <a:latin typeface="+mj-ea"/>
              <a:ea typeface="+mj-ea"/>
            </a:endParaRPr>
          </a:p>
        </p:txBody>
      </p:sp>
      <p:sp>
        <p:nvSpPr>
          <p:cNvPr id="29" name="圆角矩形 36"/>
          <p:cNvSpPr/>
          <p:nvPr/>
        </p:nvSpPr>
        <p:spPr>
          <a:xfrm>
            <a:off x="7062663" y="5240983"/>
            <a:ext cx="2061878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ea"/>
                <a:ea typeface="+mj-ea"/>
              </a:rPr>
              <a:t>2018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6</a:t>
            </a:r>
            <a:r>
              <a:rPr lang="zh-CN" altLang="en-US" sz="1600" dirty="0">
                <a:latin typeface="+mj-ea"/>
                <a:ea typeface="+mj-ea"/>
              </a:rPr>
              <a:t>月 </a:t>
            </a:r>
            <a:r>
              <a:rPr lang="en-US" altLang="zh-CN" sz="1600" dirty="0" err="1">
                <a:latin typeface="+mj-ea"/>
                <a:ea typeface="+mj-ea"/>
              </a:rPr>
              <a:t>openAI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0" name="圆角矩形 37"/>
          <p:cNvSpPr/>
          <p:nvPr/>
        </p:nvSpPr>
        <p:spPr>
          <a:xfrm>
            <a:off x="7062665" y="5941182"/>
            <a:ext cx="2061879" cy="3519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ea"/>
                <a:ea typeface="+mj-ea"/>
              </a:rPr>
              <a:t>2018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10</a:t>
            </a:r>
            <a:r>
              <a:rPr lang="zh-CN" altLang="en-US" sz="1600" dirty="0">
                <a:latin typeface="+mj-ea"/>
                <a:ea typeface="+mj-ea"/>
              </a:rPr>
              <a:t>月</a:t>
            </a:r>
            <a:r>
              <a:rPr lang="en-US" altLang="zh-CN" sz="1600" dirty="0">
                <a:latin typeface="+mj-ea"/>
                <a:ea typeface="+mj-ea"/>
              </a:rPr>
              <a:t>google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31" name="右大括号 30"/>
          <p:cNvSpPr/>
          <p:nvPr/>
        </p:nvSpPr>
        <p:spPr>
          <a:xfrm rot="10800000">
            <a:off x="3896498" y="2484975"/>
            <a:ext cx="498880" cy="170782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2" name="圆角矩形 40"/>
          <p:cNvSpPr/>
          <p:nvPr/>
        </p:nvSpPr>
        <p:spPr>
          <a:xfrm>
            <a:off x="10111387" y="3330927"/>
            <a:ext cx="1677243" cy="51881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ea"/>
                <a:ea typeface="+mj-ea"/>
              </a:rPr>
              <a:t>+ </a:t>
            </a:r>
            <a:r>
              <a:rPr lang="zh-CN" altLang="en-US" sz="1600" dirty="0">
                <a:latin typeface="+mj-ea"/>
                <a:ea typeface="+mj-ea"/>
              </a:rPr>
              <a:t>复杂网络模型</a:t>
            </a:r>
          </a:p>
        </p:txBody>
      </p:sp>
      <p:sp>
        <p:nvSpPr>
          <p:cNvPr id="33" name="右大括号 32"/>
          <p:cNvSpPr/>
          <p:nvPr/>
        </p:nvSpPr>
        <p:spPr>
          <a:xfrm>
            <a:off x="9576248" y="5281905"/>
            <a:ext cx="498880" cy="1016641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4" name="圆角矩形 42"/>
          <p:cNvSpPr/>
          <p:nvPr/>
        </p:nvSpPr>
        <p:spPr>
          <a:xfrm>
            <a:off x="10195999" y="5530819"/>
            <a:ext cx="1677243" cy="51881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+mj-ea"/>
                <a:ea typeface="+mj-ea"/>
              </a:rPr>
              <a:t>+  </a:t>
            </a:r>
            <a:r>
              <a:rPr lang="zh-CN" altLang="en-US" sz="1600" dirty="0">
                <a:latin typeface="+mj-ea"/>
                <a:ea typeface="+mj-ea"/>
              </a:rPr>
              <a:t>简单</a:t>
            </a:r>
            <a:r>
              <a:rPr lang="en-US" altLang="zh-CN" sz="1600" dirty="0" err="1">
                <a:latin typeface="+mj-ea"/>
                <a:ea typeface="+mj-ea"/>
              </a:rPr>
              <a:t>mlp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p:transition advTm="8005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722017" y="1436546"/>
            <a:ext cx="7510780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微软雅黑" panose="020B0503020204020204" charset="-122"/>
                <a:cs typeface="微软雅黑" panose="020B0503020204020204" charset="-122"/>
              </a:rPr>
              <a:t>BERT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训练的词向量有什么不同？</a:t>
            </a:r>
          </a:p>
          <a:p>
            <a:pPr marL="305435" marR="5080" indent="-635">
              <a:lnSpc>
                <a:spcPct val="244000"/>
              </a:lnSpc>
              <a:spcBef>
                <a:spcPts val="75"/>
              </a:spcBef>
            </a:pP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在</a:t>
            </a:r>
            <a:r>
              <a:rPr sz="2400" spc="-10" dirty="0">
                <a:latin typeface="+mj-ea"/>
                <a:ea typeface="+mj-ea"/>
                <a:cs typeface="宋体" panose="02010600030101010101" pitchFamily="2" charset="-122"/>
              </a:rPr>
              <a:t>w</a:t>
            </a:r>
            <a:r>
              <a:rPr sz="2400" spc="-5" dirty="0">
                <a:latin typeface="+mj-ea"/>
                <a:ea typeface="+mj-ea"/>
                <a:cs typeface="宋体" panose="02010600030101010101" pitchFamily="2" charset="-122"/>
              </a:rPr>
              <a:t>o</a:t>
            </a:r>
            <a:r>
              <a:rPr sz="2400" spc="-40" dirty="0">
                <a:latin typeface="+mj-ea"/>
                <a:ea typeface="+mj-ea"/>
                <a:cs typeface="宋体" panose="02010600030101010101" pitchFamily="2" charset="-122"/>
              </a:rPr>
              <a:t>r</a:t>
            </a:r>
            <a:r>
              <a:rPr sz="2400" spc="-5" dirty="0">
                <a:latin typeface="+mj-ea"/>
                <a:ea typeface="+mj-ea"/>
                <a:cs typeface="宋体" panose="02010600030101010101" pitchFamily="2" charset="-122"/>
              </a:rPr>
              <a:t>d2</a:t>
            </a:r>
            <a:r>
              <a:rPr sz="2400" spc="-20" dirty="0">
                <a:latin typeface="+mj-ea"/>
                <a:ea typeface="+mj-ea"/>
                <a:cs typeface="宋体" panose="02010600030101010101" pitchFamily="2" charset="-122"/>
              </a:rPr>
              <a:t>v</a:t>
            </a:r>
            <a:r>
              <a:rPr sz="2400" spc="-5" dirty="0">
                <a:latin typeface="+mj-ea"/>
                <a:ea typeface="+mj-ea"/>
                <a:cs typeface="宋体" panose="02010600030101010101" pitchFamily="2" charset="-122"/>
              </a:rPr>
              <a:t>e</a:t>
            </a: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c中，相同词对应的向量训练好后就固定了 但在不同的场景中，‘</a:t>
            </a:r>
            <a:r>
              <a:rPr lang="zh-CN" sz="2400" dirty="0">
                <a:latin typeface="+mj-ea"/>
                <a:ea typeface="+mj-ea"/>
                <a:cs typeface="宋体" panose="02010600030101010101" pitchFamily="2" charset="-122"/>
              </a:rPr>
              <a:t>干什么</a:t>
            </a: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’的意思会相同吗？</a:t>
            </a: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+mj-ea"/>
              <a:ea typeface="+mj-ea"/>
              <a:cs typeface="宋体" panose="02010600030101010101" pitchFamily="2" charset="-122"/>
            </a:endParaRPr>
          </a:p>
          <a:p>
            <a:pPr marL="306070">
              <a:lnSpc>
                <a:spcPct val="100000"/>
              </a:lnSpc>
            </a:pPr>
            <a:r>
              <a:rPr lang="zh-CN" sz="2400" dirty="0">
                <a:latin typeface="+mj-ea"/>
                <a:ea typeface="+mj-ea"/>
                <a:cs typeface="宋体" panose="02010600030101010101" pitchFamily="2" charset="-122"/>
              </a:rPr>
              <a:t>下面两张图都叫</a:t>
            </a: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t</a:t>
            </a:r>
            <a:r>
              <a:rPr sz="2400" spc="-5" dirty="0">
                <a:latin typeface="+mj-ea"/>
                <a:ea typeface="+mj-ea"/>
                <a:cs typeface="宋体" panose="02010600030101010101" pitchFamily="2" charset="-122"/>
              </a:rPr>
              <a:t>ra</a:t>
            </a: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n</a:t>
            </a:r>
            <a:r>
              <a:rPr sz="2400" spc="-5" dirty="0">
                <a:latin typeface="+mj-ea"/>
                <a:ea typeface="+mj-ea"/>
                <a:cs typeface="宋体" panose="02010600030101010101" pitchFamily="2" charset="-122"/>
              </a:rPr>
              <a:t>sfo</a:t>
            </a:r>
            <a:r>
              <a:rPr sz="2400" spc="-10" dirty="0">
                <a:latin typeface="+mj-ea"/>
                <a:ea typeface="+mj-ea"/>
                <a:cs typeface="宋体" panose="02010600030101010101" pitchFamily="2" charset="-122"/>
              </a:rPr>
              <a:t>r</a:t>
            </a: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m</a:t>
            </a:r>
            <a:r>
              <a:rPr sz="2400" spc="-5" dirty="0">
                <a:latin typeface="+mj-ea"/>
                <a:ea typeface="+mj-ea"/>
                <a:cs typeface="宋体" panose="02010600030101010101" pitchFamily="2" charset="-122"/>
              </a:rPr>
              <a:t>e</a:t>
            </a:r>
            <a:r>
              <a:rPr sz="2400" spc="95" dirty="0">
                <a:latin typeface="+mj-ea"/>
                <a:ea typeface="+mj-ea"/>
                <a:cs typeface="宋体" panose="02010600030101010101" pitchFamily="2" charset="-122"/>
              </a:rPr>
              <a:t>r</a:t>
            </a:r>
            <a:r>
              <a:rPr sz="2400" dirty="0">
                <a:latin typeface="+mj-ea"/>
                <a:ea typeface="+mj-ea"/>
                <a:cs typeface="宋体" panose="02010600030101010101" pitchFamily="2" charset="-122"/>
              </a:rPr>
              <a:t>: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450491" y="2999281"/>
            <a:ext cx="2714890" cy="3051760"/>
            <a:chOff x="8525421" y="3599941"/>
            <a:chExt cx="1898650" cy="24625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7905" y="3599941"/>
              <a:ext cx="1846097" cy="24625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525421" y="4387430"/>
              <a:ext cx="995680" cy="1612265"/>
            </a:xfrm>
            <a:custGeom>
              <a:avLst/>
              <a:gdLst/>
              <a:ahLst/>
              <a:cxnLst/>
              <a:rect l="l" t="t" r="r" b="b"/>
              <a:pathLst>
                <a:path w="995679" h="1612264">
                  <a:moveTo>
                    <a:pt x="995057" y="1611693"/>
                  </a:moveTo>
                  <a:lnTo>
                    <a:pt x="0" y="1611693"/>
                  </a:lnTo>
                  <a:lnTo>
                    <a:pt x="0" y="0"/>
                  </a:lnTo>
                  <a:lnTo>
                    <a:pt x="995057" y="0"/>
                  </a:lnTo>
                  <a:lnTo>
                    <a:pt x="995057" y="19050"/>
                  </a:ln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lnTo>
                    <a:pt x="38100" y="1573593"/>
                  </a:lnTo>
                  <a:lnTo>
                    <a:pt x="19050" y="1573593"/>
                  </a:lnTo>
                  <a:lnTo>
                    <a:pt x="38100" y="1592643"/>
                  </a:lnTo>
                  <a:lnTo>
                    <a:pt x="995057" y="1592643"/>
                  </a:lnTo>
                  <a:lnTo>
                    <a:pt x="995057" y="1611693"/>
                  </a:lnTo>
                  <a:close/>
                </a:path>
                <a:path w="995679" h="1612264">
                  <a:moveTo>
                    <a:pt x="38100" y="38100"/>
                  </a:move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close/>
                </a:path>
                <a:path w="995679" h="1612264">
                  <a:moveTo>
                    <a:pt x="956957" y="38100"/>
                  </a:moveTo>
                  <a:lnTo>
                    <a:pt x="38100" y="38100"/>
                  </a:lnTo>
                  <a:lnTo>
                    <a:pt x="38100" y="19050"/>
                  </a:lnTo>
                  <a:lnTo>
                    <a:pt x="956957" y="19050"/>
                  </a:lnTo>
                  <a:lnTo>
                    <a:pt x="956957" y="38100"/>
                  </a:lnTo>
                  <a:close/>
                </a:path>
                <a:path w="995679" h="1612264">
                  <a:moveTo>
                    <a:pt x="956957" y="1592643"/>
                  </a:moveTo>
                  <a:lnTo>
                    <a:pt x="956957" y="19050"/>
                  </a:lnTo>
                  <a:lnTo>
                    <a:pt x="976007" y="38100"/>
                  </a:lnTo>
                  <a:lnTo>
                    <a:pt x="995057" y="38100"/>
                  </a:lnTo>
                  <a:lnTo>
                    <a:pt x="995057" y="1573593"/>
                  </a:lnTo>
                  <a:lnTo>
                    <a:pt x="976007" y="1573593"/>
                  </a:lnTo>
                  <a:lnTo>
                    <a:pt x="956957" y="1592643"/>
                  </a:lnTo>
                  <a:close/>
                </a:path>
                <a:path w="995679" h="1612264">
                  <a:moveTo>
                    <a:pt x="995057" y="38100"/>
                  </a:moveTo>
                  <a:lnTo>
                    <a:pt x="976007" y="38100"/>
                  </a:lnTo>
                  <a:lnTo>
                    <a:pt x="956957" y="19050"/>
                  </a:lnTo>
                  <a:lnTo>
                    <a:pt x="995057" y="19050"/>
                  </a:lnTo>
                  <a:lnTo>
                    <a:pt x="995057" y="38100"/>
                  </a:lnTo>
                  <a:close/>
                </a:path>
                <a:path w="995679" h="1612264">
                  <a:moveTo>
                    <a:pt x="38100" y="1592643"/>
                  </a:moveTo>
                  <a:lnTo>
                    <a:pt x="19050" y="1573593"/>
                  </a:lnTo>
                  <a:lnTo>
                    <a:pt x="38100" y="1573593"/>
                  </a:lnTo>
                  <a:lnTo>
                    <a:pt x="38100" y="1592643"/>
                  </a:lnTo>
                  <a:close/>
                </a:path>
                <a:path w="995679" h="1612264">
                  <a:moveTo>
                    <a:pt x="956957" y="1592643"/>
                  </a:moveTo>
                  <a:lnTo>
                    <a:pt x="38100" y="1592643"/>
                  </a:lnTo>
                  <a:lnTo>
                    <a:pt x="38100" y="1573593"/>
                  </a:lnTo>
                  <a:lnTo>
                    <a:pt x="956957" y="1573593"/>
                  </a:lnTo>
                  <a:lnTo>
                    <a:pt x="956957" y="1592643"/>
                  </a:lnTo>
                  <a:close/>
                </a:path>
                <a:path w="995679" h="1612264">
                  <a:moveTo>
                    <a:pt x="995057" y="1592643"/>
                  </a:moveTo>
                  <a:lnTo>
                    <a:pt x="956957" y="1592643"/>
                  </a:lnTo>
                  <a:lnTo>
                    <a:pt x="976007" y="1573593"/>
                  </a:lnTo>
                  <a:lnTo>
                    <a:pt x="995057" y="1573593"/>
                  </a:lnTo>
                  <a:lnTo>
                    <a:pt x="995057" y="1592643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611188" y="573718"/>
            <a:ext cx="494452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zh-CN" altLang="en-US" kern="0">
                <a:solidFill>
                  <a:schemeClr val="tx1"/>
                </a:solidFill>
              </a:rPr>
              <a:t>为什么需要</a:t>
            </a:r>
            <a:r>
              <a:rPr lang="en-US" altLang="zh-CN" kern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pic>
        <p:nvPicPr>
          <p:cNvPr id="14" name="图片 13" descr="图片包含 卡车, 玩具, 乐高, 骑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068" y="3751656"/>
            <a:ext cx="3214587" cy="246880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69000" y="6412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变形金刚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20505" y="6412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神经网络架构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24518" y="1717916"/>
            <a:ext cx="3210345" cy="4641951"/>
            <a:chOff x="8224519" y="1924392"/>
            <a:chExt cx="3060700" cy="4435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7308" y="1924392"/>
              <a:ext cx="2987910" cy="44352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24519" y="3359150"/>
              <a:ext cx="1588135" cy="2872740"/>
            </a:xfrm>
            <a:custGeom>
              <a:avLst/>
              <a:gdLst/>
              <a:ahLst/>
              <a:cxnLst/>
              <a:rect l="l" t="t" r="r" b="b"/>
              <a:pathLst>
                <a:path w="1588134" h="2872740">
                  <a:moveTo>
                    <a:pt x="1587741" y="2872422"/>
                  </a:moveTo>
                  <a:lnTo>
                    <a:pt x="0" y="2872422"/>
                  </a:lnTo>
                  <a:lnTo>
                    <a:pt x="0" y="0"/>
                  </a:lnTo>
                  <a:lnTo>
                    <a:pt x="1587741" y="0"/>
                  </a:lnTo>
                  <a:lnTo>
                    <a:pt x="1587741" y="19050"/>
                  </a:lnTo>
                  <a:lnTo>
                    <a:pt x="38100" y="19050"/>
                  </a:lnTo>
                  <a:lnTo>
                    <a:pt x="19050" y="38100"/>
                  </a:lnTo>
                  <a:lnTo>
                    <a:pt x="38100" y="38100"/>
                  </a:lnTo>
                  <a:lnTo>
                    <a:pt x="38100" y="2834322"/>
                  </a:lnTo>
                  <a:lnTo>
                    <a:pt x="19050" y="2834322"/>
                  </a:lnTo>
                  <a:lnTo>
                    <a:pt x="38100" y="2853372"/>
                  </a:lnTo>
                  <a:lnTo>
                    <a:pt x="1587741" y="2853372"/>
                  </a:lnTo>
                  <a:lnTo>
                    <a:pt x="1587741" y="2872422"/>
                  </a:lnTo>
                  <a:close/>
                </a:path>
                <a:path w="1588134" h="2872740">
                  <a:moveTo>
                    <a:pt x="38100" y="38100"/>
                  </a:moveTo>
                  <a:lnTo>
                    <a:pt x="19050" y="38100"/>
                  </a:lnTo>
                  <a:lnTo>
                    <a:pt x="38100" y="19050"/>
                  </a:lnTo>
                  <a:lnTo>
                    <a:pt x="38100" y="38100"/>
                  </a:lnTo>
                  <a:close/>
                </a:path>
                <a:path w="1588134" h="2872740">
                  <a:moveTo>
                    <a:pt x="1549641" y="38100"/>
                  </a:moveTo>
                  <a:lnTo>
                    <a:pt x="38100" y="38100"/>
                  </a:lnTo>
                  <a:lnTo>
                    <a:pt x="38100" y="19050"/>
                  </a:lnTo>
                  <a:lnTo>
                    <a:pt x="1549641" y="19050"/>
                  </a:lnTo>
                  <a:lnTo>
                    <a:pt x="1549641" y="38100"/>
                  </a:lnTo>
                  <a:close/>
                </a:path>
                <a:path w="1588134" h="2872740">
                  <a:moveTo>
                    <a:pt x="1549641" y="2853372"/>
                  </a:moveTo>
                  <a:lnTo>
                    <a:pt x="1549641" y="19050"/>
                  </a:lnTo>
                  <a:lnTo>
                    <a:pt x="1568691" y="38100"/>
                  </a:lnTo>
                  <a:lnTo>
                    <a:pt x="1587741" y="38100"/>
                  </a:lnTo>
                  <a:lnTo>
                    <a:pt x="1587741" y="2834322"/>
                  </a:lnTo>
                  <a:lnTo>
                    <a:pt x="1568691" y="2834322"/>
                  </a:lnTo>
                  <a:lnTo>
                    <a:pt x="1549641" y="2853372"/>
                  </a:lnTo>
                  <a:close/>
                </a:path>
                <a:path w="1588134" h="2872740">
                  <a:moveTo>
                    <a:pt x="1587741" y="38100"/>
                  </a:moveTo>
                  <a:lnTo>
                    <a:pt x="1568691" y="38100"/>
                  </a:lnTo>
                  <a:lnTo>
                    <a:pt x="1549641" y="19050"/>
                  </a:lnTo>
                  <a:lnTo>
                    <a:pt x="1587741" y="19050"/>
                  </a:lnTo>
                  <a:lnTo>
                    <a:pt x="1587741" y="38100"/>
                  </a:lnTo>
                  <a:close/>
                </a:path>
                <a:path w="1588134" h="2872740">
                  <a:moveTo>
                    <a:pt x="38100" y="2853372"/>
                  </a:moveTo>
                  <a:lnTo>
                    <a:pt x="19050" y="2834322"/>
                  </a:lnTo>
                  <a:lnTo>
                    <a:pt x="38100" y="2834322"/>
                  </a:lnTo>
                  <a:lnTo>
                    <a:pt x="38100" y="2853372"/>
                  </a:lnTo>
                  <a:close/>
                </a:path>
                <a:path w="1588134" h="2872740">
                  <a:moveTo>
                    <a:pt x="1549641" y="2853372"/>
                  </a:moveTo>
                  <a:lnTo>
                    <a:pt x="38100" y="2853372"/>
                  </a:lnTo>
                  <a:lnTo>
                    <a:pt x="38100" y="2834322"/>
                  </a:lnTo>
                  <a:lnTo>
                    <a:pt x="1549641" y="2834322"/>
                  </a:lnTo>
                  <a:lnTo>
                    <a:pt x="1549641" y="2853372"/>
                  </a:lnTo>
                  <a:close/>
                </a:path>
                <a:path w="1588134" h="2872740">
                  <a:moveTo>
                    <a:pt x="1587741" y="2853372"/>
                  </a:moveTo>
                  <a:lnTo>
                    <a:pt x="1549641" y="2853372"/>
                  </a:lnTo>
                  <a:lnTo>
                    <a:pt x="1568691" y="2834322"/>
                  </a:lnTo>
                  <a:lnTo>
                    <a:pt x="1587741" y="2834322"/>
                  </a:lnTo>
                  <a:lnTo>
                    <a:pt x="1587741" y="2853372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57138" y="1050769"/>
            <a:ext cx="7355730" cy="164655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330"/>
              </a:spcBef>
            </a:pPr>
            <a:r>
              <a:rPr sz="2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idirectional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ncoder</a:t>
            </a:r>
            <a:r>
              <a:rPr sz="24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epresentations</a:t>
            </a:r>
            <a:r>
              <a:rPr sz="24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5" dirty="0">
                <a:latin typeface="Calibri" panose="020F0502020204030204"/>
                <a:cs typeface="Calibri" panose="020F0502020204030204"/>
              </a:rPr>
              <a:t>from</a:t>
            </a:r>
            <a:r>
              <a:rPr sz="240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b="1" spc="-20" dirty="0">
                <a:latin typeface="Calibri" panose="020F0502020204030204"/>
                <a:cs typeface="Calibri" panose="020F0502020204030204"/>
              </a:rPr>
              <a:t>ransformers</a:t>
            </a:r>
            <a:endParaRPr sz="2400" b="1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</a:pPr>
            <a:r>
              <a:rPr lang="zh-CN"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本质上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是t</a:t>
            </a:r>
            <a:r>
              <a:rPr sz="2000" spc="-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00" spc="-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sfo</a:t>
            </a:r>
            <a:r>
              <a:rPr sz="2000" spc="-1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2000" spc="-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000" spc="-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nc</a:t>
            </a:r>
            <a:r>
              <a:rPr sz="2000" spc="-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oder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>
              <a:lnSpc>
                <a:spcPct val="150000"/>
              </a:lnSpc>
              <a:spcBef>
                <a:spcPts val="5"/>
              </a:spcBef>
            </a:pP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并不需要标签，有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料就能训练了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668338" y="235898"/>
            <a:ext cx="494452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00866" y="2697193"/>
            <a:ext cx="1489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Encoder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14375" y="2952750"/>
            <a:ext cx="6632575" cy="3173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是一个算法模型，它的出现打破了大量的自然语言处理任务的记录。在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BERT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的论文发布不久后，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Google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的研发团队还开放了该模型的代码，并提供了一些在大量数据集上预训练好的算法模型下载方式，这使得所有人都可以通过它来构建一个涉及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-apple-system"/>
              </a:rPr>
              <a:t>NLP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-apple-system"/>
              </a:rPr>
              <a:t>的算法模型，节约了大量训练语言模型所需的时间，精力，知识和资源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4944522" cy="6778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BERT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60339" y="1348613"/>
            <a:ext cx="2561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BERT—</a:t>
            </a:r>
            <a:r>
              <a:rPr lang="zh-CN" altLang="en-US" b="1" dirty="0"/>
              <a:t>模型结构</a:t>
            </a:r>
            <a:endParaRPr lang="en-US" altLang="zh-CN" b="1" dirty="0"/>
          </a:p>
        </p:txBody>
      </p:sp>
      <p:pic>
        <p:nvPicPr>
          <p:cNvPr id="37" name="图片 36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0" t="4415" r="7693" b="6166"/>
          <a:stretch>
            <a:fillRect/>
          </a:stretch>
        </p:blipFill>
        <p:spPr>
          <a:xfrm>
            <a:off x="393970" y="1755843"/>
            <a:ext cx="3832698" cy="3176891"/>
          </a:xfrm>
          <a:prstGeom prst="rect">
            <a:avLst/>
          </a:prstGeom>
        </p:spPr>
      </p:pic>
      <p:pic>
        <p:nvPicPr>
          <p:cNvPr id="38" name="Picture 4" descr="1545547954(1).png-272.7kB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2" r="2600"/>
          <a:stretch>
            <a:fillRect/>
          </a:stretch>
        </p:blipFill>
        <p:spPr bwMode="auto">
          <a:xfrm>
            <a:off x="6096000" y="1866494"/>
            <a:ext cx="566474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文本框 39"/>
          <p:cNvSpPr txBox="1"/>
          <p:nvPr/>
        </p:nvSpPr>
        <p:spPr>
          <a:xfrm>
            <a:off x="874273" y="4932734"/>
            <a:ext cx="10152029" cy="1503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特点：</a:t>
            </a:r>
            <a:endParaRPr lang="en-US" altLang="zh-CN" dirty="0"/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dirty="0"/>
              <a:t>完全的双向，</a:t>
            </a:r>
            <a:r>
              <a:rPr lang="zh-CN" altLang="en-US" baseline="0" dirty="0"/>
              <a:t> 每一层都是同时关乎上下文</a:t>
            </a:r>
            <a:endParaRPr lang="en-US" altLang="zh-CN" baseline="0" dirty="0"/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zh-CN" baseline="0" dirty="0"/>
              <a:t> transformer </a:t>
            </a:r>
            <a:r>
              <a:rPr lang="zh-CN" altLang="en-US" baseline="0" dirty="0"/>
              <a:t>可以对长句子有更强的特征抽取的能力</a:t>
            </a:r>
            <a:endParaRPr lang="en-US" altLang="zh-CN" baseline="0" dirty="0"/>
          </a:p>
        </p:txBody>
      </p:sp>
      <p:sp>
        <p:nvSpPr>
          <p:cNvPr id="2" name="文本框 1"/>
          <p:cNvSpPr txBox="1"/>
          <p:nvPr/>
        </p:nvSpPr>
        <p:spPr>
          <a:xfrm>
            <a:off x="5081451" y="2119692"/>
            <a:ext cx="82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07131" y="2774479"/>
            <a:ext cx="1275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词嵌入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59382" y="3544875"/>
            <a:ext cx="1105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段嵌入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15085" y="4315271"/>
            <a:ext cx="1564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/>
              </a:rPr>
              <a:t>位置嵌入</a:t>
            </a:r>
          </a:p>
        </p:txBody>
      </p:sp>
    </p:spTree>
  </p:cSld>
  <p:clrMapOvr>
    <a:masterClrMapping/>
  </p:clrMapOvr>
  <p:transition advTm="800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4944522" cy="6778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BERT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33705" y="1293495"/>
            <a:ext cx="2627630" cy="53022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altLang="zh-CN" b="1" dirty="0"/>
              <a:t>BERT—</a:t>
            </a:r>
            <a:r>
              <a:rPr lang="zh-CN" altLang="en-US" b="1" dirty="0"/>
              <a:t>模型结构</a:t>
            </a:r>
            <a:endParaRPr lang="en-US" altLang="zh-CN" b="1" dirty="0"/>
          </a:p>
        </p:txBody>
      </p:sp>
      <p:pic>
        <p:nvPicPr>
          <p:cNvPr id="3" name="图片 2" descr="图形用户界面, 图示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13" t="3885" r="21092"/>
          <a:stretch>
            <a:fillRect/>
          </a:stretch>
        </p:blipFill>
        <p:spPr>
          <a:xfrm>
            <a:off x="9020109" y="1293334"/>
            <a:ext cx="2890109" cy="41563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971" y="1873702"/>
            <a:ext cx="5718639" cy="327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2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个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BERT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的模型都有一个很大的编码器层数，（论文里面将此称为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Transformer Blocks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） 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- 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基础版本就有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12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层，进阶版本有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24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层。同时它也有很大的前馈神经网络（ 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768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和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1024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个隐藏层神经元），还有很多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attention heads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（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12-16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个）。这超过了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Transformer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论文中的参考配置参数（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6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个编码器层，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512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个隐藏层单元，和</a:t>
            </a:r>
            <a:r>
              <a:rPr lang="en-US" altLang="zh-CN" sz="2000" b="0" i="0" dirty="0">
                <a:solidFill>
                  <a:srgbClr val="222222"/>
                </a:solidFill>
                <a:effectLst/>
                <a:latin typeface="-apple-system"/>
              </a:rPr>
              <a:t>8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-apple-system"/>
              </a:rPr>
              <a:t>个注意头）</a:t>
            </a:r>
            <a:endParaRPr lang="zh-CN" altLang="en-US" sz="2000" dirty="0"/>
          </a:p>
        </p:txBody>
      </p:sp>
      <p:pic>
        <p:nvPicPr>
          <p:cNvPr id="7" name="图片 6" descr="图形用户界面, 图示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7" t="29746" r="62967"/>
          <a:stretch>
            <a:fillRect/>
          </a:stretch>
        </p:blipFill>
        <p:spPr>
          <a:xfrm>
            <a:off x="6773696" y="2411645"/>
            <a:ext cx="2125911" cy="3038034"/>
          </a:xfrm>
          <a:prstGeom prst="rect">
            <a:avLst/>
          </a:prstGeom>
        </p:spPr>
      </p:pic>
    </p:spTree>
  </p:cSld>
  <p:clrMapOvr>
    <a:masterClrMapping/>
  </p:clrMapOvr>
  <p:transition advTm="800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8792" y="1316230"/>
            <a:ext cx="4075574" cy="50402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1472" y="1436114"/>
            <a:ext cx="6477475" cy="370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1905">
              <a:lnSpc>
                <a:spcPct val="150000"/>
              </a:lnSpc>
              <a:spcBef>
                <a:spcPts val="70"/>
              </a:spcBef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6705" marR="5080" indent="-1905">
              <a:lnSpc>
                <a:spcPct val="150000"/>
              </a:lnSpc>
              <a:spcBef>
                <a:spcPts val="70"/>
              </a:spcBef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6705" marR="5080" indent="-1905">
              <a:lnSpc>
                <a:spcPct val="150000"/>
              </a:lnSpc>
              <a:spcBef>
                <a:spcPts val="70"/>
              </a:spcBef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sz="20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000" b="1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MLM</a:t>
            </a:r>
            <a:r>
              <a:rPr lang="zh-CN" altLang="en-US" sz="2000" b="1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 b="1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Masked Language Modeling</a:t>
            </a:r>
            <a:r>
              <a:rPr lang="zh-CN" altLang="en-US" sz="2000" b="1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000" b="1" i="0" dirty="0">
              <a:solidFill>
                <a:srgbClr val="12121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6705" marR="5080" indent="-1905">
              <a:lnSpc>
                <a:spcPct val="150000"/>
              </a:lnSpc>
              <a:spcBef>
                <a:spcPts val="70"/>
              </a:spcBef>
            </a:pPr>
            <a:r>
              <a:rPr lang="zh-CN" altLang="en-US" sz="2000" b="0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当前词出现不只是单单依靠上文或者下文，其实应该是同时依赖于上下文深层的双向</a:t>
            </a:r>
            <a:r>
              <a:rPr lang="en-US" altLang="zh-CN" sz="2000" b="0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RNN</a:t>
            </a:r>
            <a:r>
              <a:rPr lang="zh-CN" altLang="en-US" sz="2000" b="0" i="0" dirty="0">
                <a:solidFill>
                  <a:srgbClr val="12121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会互相透露信息。</a:t>
            </a:r>
            <a:endParaRPr lang="en-US" altLang="zh-CN" sz="2000" b="0" i="0" dirty="0">
              <a:solidFill>
                <a:srgbClr val="12121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6705" marR="5080" indent="-1905">
              <a:lnSpc>
                <a:spcPct val="150000"/>
              </a:lnSpc>
              <a:spcBef>
                <a:spcPts val="70"/>
              </a:spcBef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句子中有</a:t>
            </a:r>
            <a:r>
              <a:rPr sz="20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的词汇被随机m</a:t>
            </a:r>
            <a:r>
              <a:rPr sz="20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ask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掉 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交给模型去预测被</a:t>
            </a:r>
            <a:r>
              <a:rPr sz="2000" spc="-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</a:t>
            </a:r>
            <a:r>
              <a:rPr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到底是什么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6070">
              <a:lnSpc>
                <a:spcPct val="150000"/>
              </a:lnSpc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68338" y="235898"/>
            <a:ext cx="494452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199397" y="1593972"/>
            <a:ext cx="3601928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zh-CN" altLang="en-US" sz="2800" kern="0"/>
              <a:t>如何训练</a:t>
            </a:r>
            <a:r>
              <a:rPr lang="en-US" sz="2800" kern="0" spc="-5"/>
              <a:t>B</a:t>
            </a:r>
            <a:r>
              <a:rPr lang="en-US" sz="2800" kern="0"/>
              <a:t>E</a:t>
            </a:r>
            <a:r>
              <a:rPr lang="en-US" sz="2800" kern="0" spc="-75"/>
              <a:t>R</a:t>
            </a:r>
            <a:r>
              <a:rPr lang="en-US" sz="2800" kern="0"/>
              <a:t>T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741473" y="1435855"/>
            <a:ext cx="7859063" cy="199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2250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250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25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304800">
              <a:lnSpc>
                <a:spcPct val="100000"/>
              </a:lnSpc>
            </a:pP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sz="20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：预测两个句子是否应该连在一起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543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[seq]：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两个句子之前的</a:t>
            </a:r>
            <a:r>
              <a:rPr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连接符</a:t>
            </a:r>
            <a:r>
              <a:rPr sz="20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，[cls]：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表示要做</a:t>
            </a:r>
            <a:r>
              <a:rPr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的向量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602" y="3704632"/>
            <a:ext cx="4031202" cy="23614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439" y="3704819"/>
            <a:ext cx="3441939" cy="2452028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68338" y="235898"/>
            <a:ext cx="494452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/>
          <a:srcRect l="1488"/>
          <a:stretch>
            <a:fillRect/>
          </a:stretch>
        </p:blipFill>
        <p:spPr>
          <a:xfrm>
            <a:off x="8493514" y="1435855"/>
            <a:ext cx="3267713" cy="4380126"/>
          </a:xfrm>
          <a:prstGeom prst="rect">
            <a:avLst/>
          </a:prstGeom>
        </p:spPr>
      </p:pic>
      <p:sp>
        <p:nvSpPr>
          <p:cNvPr id="12" name="object 4"/>
          <p:cNvSpPr txBox="1"/>
          <p:nvPr/>
        </p:nvSpPr>
        <p:spPr>
          <a:xfrm>
            <a:off x="199397" y="1593972"/>
            <a:ext cx="3601928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zh-CN" altLang="en-US" sz="2800" kern="0"/>
              <a:t>如何训练</a:t>
            </a:r>
            <a:r>
              <a:rPr lang="en-US" sz="2800" kern="0" spc="-5"/>
              <a:t>B</a:t>
            </a:r>
            <a:r>
              <a:rPr lang="en-US" sz="2800" kern="0"/>
              <a:t>E</a:t>
            </a:r>
            <a:r>
              <a:rPr lang="en-US" sz="2800" kern="0" spc="-75"/>
              <a:t>R</a:t>
            </a:r>
            <a:r>
              <a:rPr lang="en-US" sz="2800" kern="0"/>
              <a:t>T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79217" y="1765916"/>
            <a:ext cx="8547735" cy="1663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 marR="5080" indent="-635">
              <a:lnSpc>
                <a:spcPct val="244000"/>
              </a:lnSpc>
              <a:spcBef>
                <a:spcPts val="75"/>
              </a:spcBef>
            </a:pPr>
            <a:r>
              <a:rPr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是不是需要先训练好向量的表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4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然后再训练需要的模型呢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 所需的任务融入</a:t>
            </a:r>
            <a:r>
              <a:rPr sz="2400" spc="-2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中即可，它俩一起训练的！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19440" y="5116842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分类任务：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0645" y="3951116"/>
            <a:ext cx="3111808" cy="28155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5356" y="3919817"/>
            <a:ext cx="3064911" cy="2794239"/>
          </a:xfrm>
          <a:prstGeom prst="rect">
            <a:avLst/>
          </a:prstGeom>
        </p:spPr>
      </p:pic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668338" y="235898"/>
            <a:ext cx="494452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114942" y="1442842"/>
            <a:ext cx="360192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zh-CN" altLang="en-US" sz="2800" kern="0"/>
              <a:t>如何使用</a:t>
            </a:r>
            <a:r>
              <a:rPr lang="en-US" sz="2800" kern="0" spc="-5"/>
              <a:t>B</a:t>
            </a:r>
            <a:r>
              <a:rPr lang="en-US" sz="2800" kern="0"/>
              <a:t>E</a:t>
            </a:r>
            <a:r>
              <a:rPr lang="en-US" sz="2800" kern="0" spc="-75"/>
              <a:t>R</a:t>
            </a:r>
            <a:r>
              <a:rPr lang="en-US" sz="2800" kern="0"/>
              <a:t>T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18170" y="2329827"/>
            <a:ext cx="4597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阅读理解题，输入是文章和问题， 输出是理解的答案位置。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0547" y="2063043"/>
            <a:ext cx="4076363" cy="44813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3800" y="3529584"/>
            <a:ext cx="3361623" cy="2697352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8338" y="235898"/>
            <a:ext cx="494452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241942" y="1569842"/>
            <a:ext cx="360192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zh-CN" altLang="en-US" sz="2800" kern="0"/>
              <a:t>如何使用</a:t>
            </a:r>
            <a:r>
              <a:rPr lang="en-US" sz="2800" kern="0" spc="-5"/>
              <a:t>B</a:t>
            </a:r>
            <a:r>
              <a:rPr lang="en-US" sz="2800" kern="0"/>
              <a:t>E</a:t>
            </a:r>
            <a:r>
              <a:rPr lang="en-US" sz="2800" kern="0" spc="-75"/>
              <a:t>R</a:t>
            </a:r>
            <a:r>
              <a:rPr lang="en-US" sz="2800" kern="0"/>
              <a:t>T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18170" y="2329827"/>
            <a:ext cx="7340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如何设计网络呢？需要分别计算答案的起始和终止位置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539" y="3102085"/>
            <a:ext cx="5128375" cy="35090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8232" y="3033606"/>
            <a:ext cx="5305044" cy="3647191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8338" y="235898"/>
            <a:ext cx="494452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114942" y="1442842"/>
            <a:ext cx="360192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zh-CN" altLang="en-US" sz="2800" kern="0"/>
              <a:t>如何使用</a:t>
            </a:r>
            <a:r>
              <a:rPr lang="en-US" sz="2800" kern="0" spc="-5"/>
              <a:t>B</a:t>
            </a:r>
            <a:r>
              <a:rPr lang="en-US" sz="2800" kern="0"/>
              <a:t>E</a:t>
            </a:r>
            <a:r>
              <a:rPr lang="en-US" sz="2800" kern="0" spc="-75"/>
              <a:t>R</a:t>
            </a:r>
            <a:r>
              <a:rPr lang="en-US" sz="2800" kern="0"/>
              <a:t>T</a:t>
            </a:r>
            <a:endParaRPr lang="en-US" sz="2800" kern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55980" y="913765"/>
            <a:ext cx="7813675" cy="11957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微软雅黑" panose="020B0503020204020204" charset="-122"/>
                <a:cs typeface="微软雅黑" panose="020B0503020204020204" charset="-122"/>
              </a:rPr>
              <a:t>Fine-tunning</a:t>
            </a:r>
            <a:r>
              <a:rPr lang="zh-CN" altLang="en-US" sz="240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dirty="0">
                <a:latin typeface="微软雅黑" panose="020B0503020204020204" charset="-122"/>
                <a:cs typeface="微软雅黑" panose="020B0503020204020204" charset="-122"/>
              </a:rPr>
              <a:t>bert</a:t>
            </a:r>
            <a:r>
              <a:rPr lang="zh-CN" altLang="en-US" sz="2400" dirty="0">
                <a:latin typeface="微软雅黑" panose="020B0503020204020204" charset="-122"/>
                <a:cs typeface="微软雅黑" panose="020B0503020204020204" charset="-122"/>
              </a:rPr>
              <a:t>的微调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zh-CN" altLang="en-US" sz="24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如何设计网络呢？需要分别计算答案的起始和终止位置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68338" y="235898"/>
            <a:ext cx="494452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BERT</a:t>
            </a:r>
            <a:endParaRPr lang="zh-CN" altLang="en-US" kern="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148" y="2219393"/>
            <a:ext cx="4331898" cy="448576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55980" y="2605405"/>
            <a:ext cx="6795770" cy="3837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待分类句子A: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Datawhale 是 一个 专注于 Al领域  的开源组织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模型输出以下各token的向量: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[CLS]Datawhale 是 一个 专注于 Al领域  的开源组织[SEP]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[CLS]表示的向量一般可以认为是句向量,用[CLS]向量对接下游文本分类任务,可得到fine tuning的文本分类模型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hYzEyNDZjMzZlZDY3ZmUzNDUwZjE1MGU3MDgzNjAifQ=="/>
  <p:tag name="KSO_WPP_MARK_KEY" val="b18acd1d-e0c7-40cd-90a0-abf5bc3c259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2623</Words>
  <Application>Microsoft Office PowerPoint</Application>
  <PresentationFormat>宽屏</PresentationFormat>
  <Paragraphs>222</Paragraphs>
  <Slides>26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-apple-system</vt:lpstr>
      <vt:lpstr>quote-cjk-patch</vt:lpstr>
      <vt:lpstr>黑体</vt:lpstr>
      <vt:lpstr>微软雅黑</vt:lpstr>
      <vt:lpstr>微软雅黑 Light</vt:lpstr>
      <vt:lpstr>Arial</vt:lpstr>
      <vt:lpstr>Calibri</vt:lpstr>
      <vt:lpstr>Cambria Math</vt:lpstr>
      <vt:lpstr>Microsoft PhagsPa</vt:lpstr>
      <vt:lpstr>Montserrat Light</vt:lpstr>
      <vt:lpstr>Verdana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BERT简介</vt:lpstr>
      <vt:lpstr>PowerPoint 演示文稿</vt:lpstr>
      <vt:lpstr>PowerPoint 演示文稿</vt:lpstr>
      <vt:lpstr>BERT</vt:lpstr>
      <vt:lpstr>BERT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李秋硕</dc:creator>
  <cp:lastModifiedBy>Qing Sun</cp:lastModifiedBy>
  <cp:revision>390</cp:revision>
  <dcterms:created xsi:type="dcterms:W3CDTF">2023-08-20T09:10:00Z</dcterms:created>
  <dcterms:modified xsi:type="dcterms:W3CDTF">2026-06-17T09:23:44Z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F7B10A2188744FE0B3FEA2C9C1B459B1_12</vt:lpwstr>
  </property>
  <property fmtid="{D5CDD505-2E9C-101B-9397-08002B2CF9AE}" pid="3" name="KSOProductBuildVer">
    <vt:lpwstr>2052-12.1.0.21915</vt:lpwstr>
  </property>
</Properties>
</file>